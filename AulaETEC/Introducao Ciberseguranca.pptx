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6858000" cx="12192000"/>
  <p:notesSz cx="6858000" cy="12192000"/>
  <p:embeddedFontLst>
    <p:embeddedFont>
      <p:font typeface="Inter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1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1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Inter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Inter-italic.fntdata"/><Relationship Id="rId10" Type="http://schemas.openxmlformats.org/officeDocument/2006/relationships/slide" Target="slides/slide5.xml"/><Relationship Id="rId54" Type="http://schemas.openxmlformats.org/officeDocument/2006/relationships/font" Target="fonts/Int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Inter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h3be51adf675922d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h3be51adf675922d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h3be51adf675922d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" name="Google Shape;99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" name="Google Shape;10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9" name="Google Shape;10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1" name="Google Shape;11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7" name="Google Shape;120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5" name="Google Shape;126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3" name="Google Shape;132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2" name="Google Shape;137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1" name="Google Shape;142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3" name="Google Shape;147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1" name="Google Shape;153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7" name="Google Shape;158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5" name="Google Shape;164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9" name="Google Shape;169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8" name="Google Shape;175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7" name="Google Shape;180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1" name="Google Shape;186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h1573e61042d19ca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7" name="Google Shape;1947;h1573e61042d19ca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h1573e61042d19ca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9" name="Google Shape;199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5" name="Google Shape;205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9" name="Google Shape;210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1" name="Google Shape;216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h4e42940aa52f64b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0" name="Google Shape;2220;h4e42940aa52f64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h4e42940aa52f64b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h4e42940aa52f64b3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5" name="Google Shape;2275;h4e42940aa52f64b3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h4e42940aa52f64b3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h4e42940aa52f64b3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0" name="Google Shape;2330;h4e42940aa52f64b3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h4e42940aa52f64b3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h4e42940aa52f64b3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5" name="Google Shape;2385;h4e42940aa52f64b3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h4e42940aa52f64b3_0_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h4e42940aa52f64b3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0" name="Google Shape;2440;h4e42940aa52f64b3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h4e42940aa52f64b3_0_2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3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h4e42940aa52f64b3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5" name="Google Shape;2495;h4e42940aa52f64b3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h4e42940aa52f64b3_0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h4e42940aa52f64b3_0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0" name="Google Shape;2550;h4e42940aa52f64b3_0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h4e42940aa52f64b3_0_3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67512" y="649224"/>
            <a:ext cx="3657600" cy="411480"/>
          </a:xfrm>
          <a:prstGeom prst="roundRect">
            <a:avLst>
              <a:gd fmla="val 40000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859536" y="722376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INFOESTE     •     OFICINA PRÁTICA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76656" y="1417320"/>
            <a:ext cx="8183880" cy="2231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Introdução à</a:t>
            </a:r>
            <a:endParaRPr b="0" i="0" sz="44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Cibersegurança</a:t>
            </a:r>
            <a:endParaRPr b="0" i="0" sz="44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na Prática</a:t>
            </a:r>
            <a:endParaRPr b="0" i="0" sz="44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04088" y="3694176"/>
            <a:ext cx="749808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2180"/>
              <a:buFont typeface="Inter"/>
              <a:buNone/>
            </a:pPr>
            <a:r>
              <a:rPr b="0" i="0" lang="en-US" sz="218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Conceitos fundamentais, proteção de dados e atividades práticas</a:t>
            </a:r>
            <a:endParaRPr b="0" i="0" sz="21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0" y="914400"/>
            <a:ext cx="914400" cy="914400"/>
          </a:xfrm>
          <a:prstGeom prst="ellipse">
            <a:avLst/>
          </a:prstGeom>
          <a:solidFill>
            <a:srgbClr val="0C071B">
              <a:alpha val="0"/>
            </a:srgbClr>
          </a:solidFill>
          <a:ln cap="flat" cmpd="sng" w="12700">
            <a:solidFill>
              <a:srgbClr val="0C07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96112" y="46268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Senhas e autenticação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0" y="914400"/>
            <a:ext cx="914400" cy="914400"/>
          </a:xfrm>
          <a:prstGeom prst="ellipse">
            <a:avLst/>
          </a:prstGeom>
          <a:solidFill>
            <a:srgbClr val="0C071B">
              <a:alpha val="0"/>
            </a:srgbClr>
          </a:solidFill>
          <a:ln cap="flat" cmpd="sng" w="12700">
            <a:solidFill>
              <a:srgbClr val="0C07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896112" y="5093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Confidencialidade e integridade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0" y="914400"/>
            <a:ext cx="914400" cy="914400"/>
          </a:xfrm>
          <a:prstGeom prst="ellipse">
            <a:avLst/>
          </a:prstGeom>
          <a:solidFill>
            <a:srgbClr val="0C071B">
              <a:alpha val="0"/>
            </a:srgbClr>
          </a:solidFill>
          <a:ln cap="flat" cmpd="sng" w="12700">
            <a:solidFill>
              <a:srgbClr val="0C07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896112" y="55595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Hash e criptografia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0" y="914400"/>
            <a:ext cx="914400" cy="914400"/>
          </a:xfrm>
          <a:prstGeom prst="ellipse">
            <a:avLst/>
          </a:prstGeom>
          <a:solidFill>
            <a:srgbClr val="0C071B">
              <a:alpha val="0"/>
            </a:srgbClr>
          </a:solidFill>
          <a:ln cap="flat" cmpd="sng" w="12700">
            <a:solidFill>
              <a:srgbClr val="0C07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178808" y="46268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Engenharia social e phishing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0" y="914400"/>
            <a:ext cx="914400" cy="914400"/>
          </a:xfrm>
          <a:prstGeom prst="ellipse">
            <a:avLst/>
          </a:prstGeom>
          <a:solidFill>
            <a:srgbClr val="0C071B">
              <a:alpha val="0"/>
            </a:srgbClr>
          </a:solidFill>
          <a:ln cap="flat" cmpd="sng" w="12700">
            <a:solidFill>
              <a:srgbClr val="0C07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178808" y="50932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Atividades práticas em Python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3"/>
          <p:cNvSpPr/>
          <p:nvPr/>
        </p:nvSpPr>
        <p:spPr>
          <a:xfrm rot="5400000">
            <a:off x="8686800" y="1737360"/>
            <a:ext cx="2889504" cy="289864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91840">
              <a:alpha val="94902"/>
            </a:srgbClr>
          </a:solidFill>
          <a:ln cap="flat" cmpd="sng" w="30475">
            <a:solidFill>
              <a:srgbClr val="B78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 rot="10800000">
            <a:off x="9537192" y="2395728"/>
            <a:ext cx="1216152" cy="128016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C071B">
              <a:alpha val="0"/>
            </a:srgbClr>
          </a:solidFill>
          <a:ln cap="flat" cmpd="sng" w="53325">
            <a:solidFill>
              <a:srgbClr val="64E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9445740" y="2930666"/>
            <a:ext cx="1371600" cy="1088100"/>
          </a:xfrm>
          <a:prstGeom prst="roundRect">
            <a:avLst>
              <a:gd fmla="val 15126" name="adj"/>
            </a:avLst>
          </a:prstGeom>
          <a:solidFill>
            <a:srgbClr val="6F42BA"/>
          </a:solidFill>
          <a:ln cap="flat" cmpd="sng" w="11425">
            <a:solidFill>
              <a:srgbClr val="B78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0058400" y="3383280"/>
            <a:ext cx="182880" cy="182880"/>
          </a:xfrm>
          <a:prstGeom prst="ellipse">
            <a:avLst/>
          </a:prstGeom>
          <a:solidFill>
            <a:srgbClr val="F8F5FF"/>
          </a:solidFill>
          <a:ln cap="flat" cmpd="sng" w="12700">
            <a:solidFill>
              <a:srgbClr val="F8F5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0126980" y="3520440"/>
            <a:ext cx="45720" cy="292608"/>
          </a:xfrm>
          <a:prstGeom prst="roundRect">
            <a:avLst>
              <a:gd fmla="val 360000" name="adj"/>
            </a:avLst>
          </a:prstGeom>
          <a:solidFill>
            <a:srgbClr val="F8F5FF"/>
          </a:solidFill>
          <a:ln cap="flat" cmpd="sng" w="12700">
            <a:solidFill>
              <a:srgbClr val="F8F5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3"/>
          <p:cNvCxnSpPr/>
          <p:nvPr/>
        </p:nvCxnSpPr>
        <p:spPr>
          <a:xfrm>
            <a:off x="650706" y="6177247"/>
            <a:ext cx="10890600" cy="0"/>
          </a:xfrm>
          <a:prstGeom prst="straightConnector1">
            <a:avLst/>
          </a:prstGeom>
          <a:noFill/>
          <a:ln cap="flat" cmpd="sng" w="12700">
            <a:solidFill>
              <a:srgbClr val="4A356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"/>
          <p:cNvSpPr/>
          <p:nvPr/>
        </p:nvSpPr>
        <p:spPr>
          <a:xfrm>
            <a:off x="859525" y="6190475"/>
            <a:ext cx="181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Gabriel Savoldi </a:t>
            </a:r>
            <a:endParaRPr b="1" sz="1200">
              <a:solidFill>
                <a:srgbClr val="B6A8D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Leandro Paes</a:t>
            </a:r>
            <a:endParaRPr b="1" sz="1200">
              <a:solidFill>
                <a:srgbClr val="B6A8D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497312" y="6391656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INFOESTE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2672725" y="6210575"/>
            <a:ext cx="21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Maria Eduarda Ribeiro</a:t>
            </a:r>
            <a:endParaRPr b="1" sz="1200">
              <a:solidFill>
                <a:srgbClr val="B6A8D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Natalia Viudes</a:t>
            </a:r>
            <a:endParaRPr b="1" sz="1200">
              <a:solidFill>
                <a:srgbClr val="B6A8D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93776" y="310896"/>
            <a:ext cx="2103120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03504" y="333756"/>
            <a:ext cx="1901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INTRODUÇÃO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02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8" name="Google Shape;98;p4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4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que vamos aprender?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Da teoria à prática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4"/>
          <p:cNvSpPr/>
          <p:nvPr/>
        </p:nvSpPr>
        <p:spPr>
          <a:xfrm>
            <a:off x="502920" y="1984248"/>
            <a:ext cx="5504688" cy="1313688"/>
          </a:xfrm>
          <a:prstGeom prst="roundRect">
            <a:avLst>
              <a:gd fmla="val 12529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21208" y="2139696"/>
            <a:ext cx="50292" cy="100279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31520" y="2148840"/>
            <a:ext cx="504748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Fundamentos de segurança: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31520" y="2715768"/>
            <a:ext cx="5047488" cy="408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Entenderemos quais características de uma informação precisam ser protegidas e quais tipos de ataques podem comprometer um sistema.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172200" y="1984248"/>
            <a:ext cx="5504688" cy="1313688"/>
          </a:xfrm>
          <a:prstGeom prst="roundRect">
            <a:avLst>
              <a:gd fmla="val 12529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190488" y="2139696"/>
            <a:ext cx="50292" cy="100279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400800" y="2148840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Identidade e acesso: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00800" y="2578608"/>
            <a:ext cx="5047488" cy="545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Veremos como sistemas identificam usuários, por que senhas são utilizadas e como permissões controlam o que cada pessoa pode fazer.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02920" y="3453384"/>
            <a:ext cx="5504688" cy="1313688"/>
          </a:xfrm>
          <a:prstGeom prst="roundRect">
            <a:avLst>
              <a:gd fmla="val 12529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521208" y="3608832"/>
            <a:ext cx="50292" cy="100279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731520" y="3617976"/>
            <a:ext cx="504748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Proteção das informações: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31520" y="4184904"/>
            <a:ext cx="5047488" cy="408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Conheceremos conceitos de hash e criptografia e veremos como eles podem ser utilizados para proteger dados.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172200" y="3453384"/>
            <a:ext cx="5504688" cy="1313688"/>
          </a:xfrm>
          <a:prstGeom prst="roundRect">
            <a:avLst>
              <a:gd fmla="val 12529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190488" y="3608832"/>
            <a:ext cx="50292" cy="100279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400800" y="3617976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O fator humano: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400800" y="4047744"/>
            <a:ext cx="5047488" cy="545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Analisaremos golpes de phishing e situações em que o atacante tenta enganar uma pessoa em vez de atacar diretamente um sistema.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02920" y="4922520"/>
            <a:ext cx="5504688" cy="1313688"/>
          </a:xfrm>
          <a:prstGeom prst="roundRect">
            <a:avLst>
              <a:gd fmla="val 12529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21208" y="5077968"/>
            <a:ext cx="50292" cy="100279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731520" y="5087112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Prática: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31520" y="5516880"/>
            <a:ext cx="5047488" cy="545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32"/>
              <a:buFont typeface="Inter"/>
              <a:buNone/>
            </a:pPr>
            <a:r>
              <a:rPr b="0" i="0" lang="en-US" sz="1632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Durante o curso, desenvolveremos pequenos programas e resolveremos desafios de segurança.</a:t>
            </a:r>
            <a:endParaRPr b="0" i="0" sz="1632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93776" y="310896"/>
            <a:ext cx="2103120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603504" y="333756"/>
            <a:ext cx="1901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INTRODUÇÃO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03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6" name="Google Shape;156;p5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5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Segurança da Informação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O que exatamente estamos tentando proteger?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9" name="Google Shape;159;p5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5"/>
          <p:cNvSpPr/>
          <p:nvPr/>
        </p:nvSpPr>
        <p:spPr>
          <a:xfrm>
            <a:off x="50292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3152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t/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37583" y="2354564"/>
            <a:ext cx="31578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Segurança da informação é o conjunto de medidas utilizadas para proteger informações, sistemas e recursos contra ações que possam comprometer sua segurança.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28244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30072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51104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t/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17103" y="2354564"/>
            <a:ext cx="31578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 informação pode estar armazenada em um computador, celular, servidor ou banco de dados, mas também pode estar sendo transmitida por uma rede.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806196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808024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829056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t/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296623" y="2354564"/>
            <a:ext cx="31578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problema de segurança pode ocorrer quando alguém acessa, modifica, destrói ou impede o acesso a uma informação sem autorização.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02920" y="4553712"/>
            <a:ext cx="11164824" cy="1636776"/>
          </a:xfrm>
          <a:prstGeom prst="roundRect">
            <a:avLst>
              <a:gd fmla="val 1005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521208" y="4709160"/>
            <a:ext cx="50292" cy="1325880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31520" y="4718304"/>
            <a:ext cx="10707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Exemplos: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31520" y="5148072"/>
            <a:ext cx="107076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90"/>
              <a:buFont typeface="Inter"/>
              <a:buNone/>
            </a:pPr>
            <a:r>
              <a:rPr b="0" i="0" lang="en-US" sz="189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Roubo de uma senha              • Alteração de um arquivo   </a:t>
            </a:r>
            <a:endParaRPr b="0" i="0" sz="1890" u="none" cap="none" strike="noStrike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90"/>
              <a:buFont typeface="Inter"/>
              <a:buNone/>
            </a:pPr>
            <a:r>
              <a:rPr b="0" i="0" lang="en-US" sz="189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Vazamento de informações   • Indisponibilidade de um sistema</a:t>
            </a:r>
            <a:endParaRPr b="0" i="0" sz="18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93776" y="310896"/>
            <a:ext cx="2103120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03504" y="333756"/>
            <a:ext cx="1901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INTRODUÇÃO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04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0" name="Google Shape;210;p6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6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que é um ataque à segurança?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Nem todo ataque acontece da mesma forma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3" name="Google Shape;213;p6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6"/>
          <p:cNvSpPr/>
          <p:nvPr/>
        </p:nvSpPr>
        <p:spPr>
          <a:xfrm>
            <a:off x="502920" y="1984248"/>
            <a:ext cx="3614928" cy="4251960"/>
          </a:xfrm>
          <a:prstGeom prst="roundRect">
            <a:avLst>
              <a:gd fmla="val 455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521208" y="2139696"/>
            <a:ext cx="50292" cy="3941064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731520" y="214884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731520" y="2578608"/>
            <a:ext cx="3157728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ataque ocorre quando uma ação compromete algum aspecto da segurança de uma informação, sistema ou comunicação.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282440" y="1984248"/>
            <a:ext cx="3614928" cy="4251960"/>
          </a:xfrm>
          <a:prstGeom prst="roundRect">
            <a:avLst>
              <a:gd fmla="val 455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300728" y="2139696"/>
            <a:ext cx="50292" cy="3941064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511040" y="214884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511040" y="2578608"/>
            <a:ext cx="3157728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O objetivo de um atacante pode ser apenas obter informações, mas também pode envolver modificar dados, interromper sistemas ou se passar por outra pessoa.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061960" y="1984248"/>
            <a:ext cx="3614928" cy="4251960"/>
          </a:xfrm>
          <a:prstGeom prst="roundRect">
            <a:avLst>
              <a:gd fmla="val 455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8080248" y="2139696"/>
            <a:ext cx="50292" cy="3941064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8290560" y="214884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8290560" y="2578608"/>
            <a:ext cx="3157728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Os ataques podem ser divididos em dois grandes grupos: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Inter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Ataques passivos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Ataques ativos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493776" y="310896"/>
            <a:ext cx="2103120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603504" y="333756"/>
            <a:ext cx="1901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INTRODUÇÃO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05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0" name="Google Shape;260;p7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7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Ataques Passivos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O atacante observa, mas não interfere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3" name="Google Shape;263;p7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7"/>
          <p:cNvSpPr/>
          <p:nvPr/>
        </p:nvSpPr>
        <p:spPr>
          <a:xfrm>
            <a:off x="50292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73152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73152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ataque passivo busca obter informações sem alterar o funcionamento do sistema ou o conteúdo da comunicação.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28244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430072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451104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51104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O atacante pode tentar observar mensagens, arquivos ou padrões de comunicação.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806196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808024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829056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829056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Como o sistema continua funcionando normalmente, esse tipo de ataque pode ser difícil de perceber.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02920" y="4553712"/>
            <a:ext cx="11164824" cy="1636776"/>
          </a:xfrm>
          <a:prstGeom prst="roundRect">
            <a:avLst>
              <a:gd fmla="val 1005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521208" y="4709160"/>
            <a:ext cx="50292" cy="1325880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731520" y="4718304"/>
            <a:ext cx="10707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Exemplos: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731520" y="5148072"/>
            <a:ext cx="107076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90"/>
              <a:buFont typeface="Inter"/>
              <a:buNone/>
            </a:pPr>
            <a:r>
              <a:rPr b="0" i="0" lang="en-US" sz="189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Leitura não autorizada de uma mensagem   • Monitoramento de uma comunicação   </a:t>
            </a:r>
            <a:endParaRPr b="0" i="0" sz="1890" u="none" cap="none" strike="noStrike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90"/>
              <a:buFont typeface="Inter"/>
              <a:buNone/>
            </a:pPr>
            <a:r>
              <a:rPr b="0" i="0" lang="en-US" sz="189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Observação do tráfego de uma rede</a:t>
            </a:r>
            <a:endParaRPr b="0" i="0" sz="18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493776" y="310896"/>
            <a:ext cx="2103120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603504" y="333756"/>
            <a:ext cx="1901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INTRODUÇÃO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06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14" name="Google Shape;314;p8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8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Ataques Ativos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O atacante interfere no sistema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17" name="Google Shape;317;p8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8"/>
          <p:cNvSpPr/>
          <p:nvPr/>
        </p:nvSpPr>
        <p:spPr>
          <a:xfrm>
            <a:off x="502920" y="1956816"/>
            <a:ext cx="550468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731520" y="2121408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731520" y="2551176"/>
            <a:ext cx="504748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20"/>
              <a:buFont typeface="Inter"/>
              <a:buNone/>
            </a:pPr>
            <a:r>
              <a:rPr b="0" i="0" lang="en-US" sz="18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Nos ataques ativos, existe uma modificação ou perturbação do sistema, de seus recursos ou de uma comunicação.</a:t>
            </a:r>
            <a:endParaRPr b="0" i="0" sz="1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6172200" y="1956816"/>
            <a:ext cx="550468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619048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6400800" y="2121408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6400800" y="2551176"/>
            <a:ext cx="504748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20"/>
              <a:buFont typeface="Inter"/>
              <a:buNone/>
            </a:pPr>
            <a:r>
              <a:rPr b="0" i="0" lang="en-US" sz="18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O atacante pode alterar informações, inserir novos dados, interromper um serviço ou tentar assumir a identidade de outra pessoa.</a:t>
            </a:r>
            <a:endParaRPr b="0" i="0" sz="1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502920" y="4553712"/>
            <a:ext cx="11164824" cy="1636776"/>
          </a:xfrm>
          <a:prstGeom prst="roundRect">
            <a:avLst>
              <a:gd fmla="val 1005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521208" y="4709160"/>
            <a:ext cx="50292" cy="1325880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731520" y="4718304"/>
            <a:ext cx="10707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Exemplos: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731520" y="5148072"/>
            <a:ext cx="107076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79"/>
              <a:buFont typeface="Inter"/>
              <a:buNone/>
            </a:pPr>
            <a:r>
              <a:rPr b="0" i="0" lang="en-US" sz="17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Alteração de mensagens     • Modificação de arquivos   • Negação de serviço</a:t>
            </a:r>
            <a:endParaRPr sz="178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79"/>
              <a:buFont typeface="Inter"/>
              <a:buNone/>
            </a:pPr>
            <a:r>
              <a:rPr b="0" i="0" lang="en-US" sz="17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• Repetição de mensagens   • Disfarce de identidade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SERVIÇOS DE SEGURANÇA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07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4" name="Google Shape;364;p9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9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Serviços de Segurança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Que propriedades queremos garantir?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7" name="Google Shape;367;p9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9"/>
          <p:cNvSpPr/>
          <p:nvPr/>
        </p:nvSpPr>
        <p:spPr>
          <a:xfrm>
            <a:off x="502920" y="1956816"/>
            <a:ext cx="550468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731520" y="2121408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731520" y="2551176"/>
            <a:ext cx="504748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20"/>
              <a:buFont typeface="Inter"/>
              <a:buNone/>
            </a:pPr>
            <a:r>
              <a:rPr b="0" i="0" lang="en-US" sz="18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serviço de segurança é uma funcionalidade utilizada para aumentar a proteção dos recursos de um sistema e das informações de uma organização.</a:t>
            </a:r>
            <a:endParaRPr b="0" i="0" sz="1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6172200" y="1956816"/>
            <a:ext cx="550468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619048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6400800" y="2121408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400800" y="2551176"/>
            <a:ext cx="504748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20"/>
              <a:buFont typeface="Inter"/>
              <a:buNone/>
            </a:pPr>
            <a:r>
              <a:rPr b="0" i="0" lang="en-US" sz="18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Cada serviço procura resolver um tipo diferente de problema de segurança.</a:t>
            </a:r>
            <a:endParaRPr b="0" i="0" sz="1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502920" y="4553712"/>
            <a:ext cx="11164824" cy="1636776"/>
          </a:xfrm>
          <a:prstGeom prst="roundRect">
            <a:avLst>
              <a:gd fmla="val 1005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521208" y="4709160"/>
            <a:ext cx="50292" cy="1325880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731520" y="4718304"/>
            <a:ext cx="10707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Principais serviços estudados: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731520" y="5148072"/>
            <a:ext cx="107076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79"/>
              <a:buFont typeface="Inter"/>
              <a:buNone/>
            </a:pPr>
            <a:r>
              <a:rPr b="0" i="0" lang="en-US" sz="17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Confidencialidade   • Autenticação       • Integridade   </a:t>
            </a:r>
            <a:endParaRPr b="0" i="0" sz="1780" u="none" cap="none" strike="noStrike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79"/>
              <a:buFont typeface="Inter"/>
              <a:buNone/>
            </a:pPr>
            <a:r>
              <a:rPr b="0" i="0" lang="en-US" sz="17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Irretratabilidade       • Disponibilidade   • Controle de acesso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SERVIÇOS DE SEGURANÇA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09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4" name="Google Shape;414;p10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10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Serviço de Confidencialidade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Protegendo informações contra divulgação não autorizada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7" name="Google Shape;417;p10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0"/>
          <p:cNvSpPr/>
          <p:nvPr/>
        </p:nvSpPr>
        <p:spPr>
          <a:xfrm>
            <a:off x="50292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73152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73152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 confidencialidade busca impedir que uma informação seja conhecida por alguém que não possui autorização.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428244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430072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451104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451104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 proteção deve existir tanto quando a informação está armazenada quanto quando está sendo transmitida.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806196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808024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829056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829056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 entidade não autorizada pode ser uma pessoa, um programa, outro sistema ou até outro equipamento.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502920" y="4553712"/>
            <a:ext cx="11164824" cy="1636776"/>
          </a:xfrm>
          <a:prstGeom prst="roundRect">
            <a:avLst>
              <a:gd fmla="val 1005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521208" y="4709160"/>
            <a:ext cx="50292" cy="1325880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731520" y="4718304"/>
            <a:ext cx="10707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Exemplo: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731520" y="5148072"/>
            <a:ext cx="107076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Uma conversa privada não deveria poder ser lida por uma pessoa que não participa da conversa.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1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1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SERVIÇOS DE SEGURANÇA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10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8" name="Google Shape;468;p11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11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Serviço de Integridade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A informação continua sendo a mesma?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1" name="Google Shape;471;p11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11"/>
          <p:cNvSpPr/>
          <p:nvPr/>
        </p:nvSpPr>
        <p:spPr>
          <a:xfrm>
            <a:off x="502920" y="1938528"/>
            <a:ext cx="3614928" cy="2304288"/>
          </a:xfrm>
          <a:prstGeom prst="roundRect">
            <a:avLst>
              <a:gd fmla="val 714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521208" y="2093976"/>
            <a:ext cx="50292" cy="1993392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731520" y="210312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731520" y="2532888"/>
            <a:ext cx="3157728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Integridade significa conseguir determinar se uma informação foi modificada por uma entidade não autorizada.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4282440" y="1938528"/>
            <a:ext cx="3614928" cy="2304288"/>
          </a:xfrm>
          <a:prstGeom prst="roundRect">
            <a:avLst>
              <a:gd fmla="val 714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4300728" y="2093976"/>
            <a:ext cx="50292" cy="1993392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4511040" y="210312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4511040" y="2532888"/>
            <a:ext cx="3157728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Uma informação íntegra deve continuar correspondente </a:t>
            </a:r>
            <a:r>
              <a:rPr lang="en-US" sz="164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quela que foi originalmente gerada por uma entidade autorizada.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8061960" y="1938528"/>
            <a:ext cx="3614928" cy="2304288"/>
          </a:xfrm>
          <a:prstGeom prst="roundRect">
            <a:avLst>
              <a:gd fmla="val 714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8080248" y="2093976"/>
            <a:ext cx="50292" cy="1993392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8290560" y="210312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8290560" y="2532888"/>
            <a:ext cx="3157728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32"/>
              <a:buFont typeface="Inter"/>
              <a:buNone/>
            </a:pPr>
            <a:r>
              <a:rPr b="0" i="0" lang="en-US" sz="1532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Podem existir problemas de integridade quando ocorre:</a:t>
            </a:r>
            <a:endParaRPr b="0" i="0" sz="1532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32"/>
              <a:buFont typeface="Inter"/>
              <a:buNone/>
            </a:pPr>
            <a:r>
              <a:rPr b="0" i="0" lang="en-US" sz="1532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Modificação</a:t>
            </a:r>
            <a:endParaRPr b="0" i="0" sz="1532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32"/>
              <a:buFont typeface="Inter"/>
              <a:buNone/>
            </a:pPr>
            <a:r>
              <a:rPr b="0" i="0" lang="en-US" sz="1532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Inserção</a:t>
            </a:r>
            <a:endParaRPr b="0" i="0" sz="1532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32"/>
              <a:buFont typeface="Inter"/>
              <a:buNone/>
            </a:pPr>
            <a:r>
              <a:rPr b="0" i="0" lang="en-US" sz="1532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Exclusão</a:t>
            </a:r>
            <a:endParaRPr b="0" i="0" sz="1532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32"/>
              <a:buFont typeface="Inter"/>
              <a:buNone/>
            </a:pPr>
            <a:r>
              <a:rPr b="0" i="0" lang="en-US" sz="1532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Repetição de informações</a:t>
            </a:r>
            <a:endParaRPr b="0" i="0" sz="1532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502920" y="4407408"/>
            <a:ext cx="5266944" cy="1719072"/>
          </a:xfrm>
          <a:prstGeom prst="roundRect">
            <a:avLst>
              <a:gd fmla="val 9574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521208" y="4425696"/>
            <a:ext cx="5230368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1"/>
          <p:cNvSpPr/>
          <p:nvPr/>
        </p:nvSpPr>
        <p:spPr>
          <a:xfrm>
            <a:off x="676656" y="4581144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859536" y="4581144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1042416" y="4581144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1389888" y="4507992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747508" y="5001781"/>
            <a:ext cx="47640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90"/>
              <a:buFont typeface="Verdana"/>
              <a:buNone/>
            </a:pPr>
            <a:r>
              <a:rPr b="0" i="0" lang="en-US" sz="14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Mensagem original: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90"/>
              <a:buFont typeface="Verdana"/>
              <a:buNone/>
            </a:pPr>
            <a:r>
              <a:rPr b="0" i="0" lang="en-US" sz="14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Transferir R$ 100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"/>
              <a:buFont typeface="Inter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90"/>
              <a:buFont typeface="Verdana"/>
              <a:buNone/>
            </a:pPr>
            <a:r>
              <a:rPr b="0" i="0" lang="en-US" sz="14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Mensagem alterada: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90"/>
              <a:buFont typeface="Verdana"/>
              <a:buNone/>
            </a:pPr>
            <a:r>
              <a:rPr b="0" i="0" lang="en-US" sz="14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Transferir R$ 900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5971032" y="4407408"/>
            <a:ext cx="5696712" cy="1719072"/>
          </a:xfrm>
          <a:prstGeom prst="roundRect">
            <a:avLst>
              <a:gd fmla="val 957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5989320" y="4562856"/>
            <a:ext cx="50292" cy="14081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6213375" y="4817060"/>
            <a:ext cx="52395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Mesmo que ninguém além das pessoas autorizadas tenha visto a mensagem, sua integridade foi comprometida.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2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2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SERVIÇOS DE SEGURANÇA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11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28" name="Google Shape;528;p12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9" name="Google Shape;529;p12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Serviço de Disponibilidade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Um sistema seguro também precisa funcionar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31" name="Google Shape;531;p12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2" name="Google Shape;532;p12"/>
          <p:cNvSpPr/>
          <p:nvPr/>
        </p:nvSpPr>
        <p:spPr>
          <a:xfrm>
            <a:off x="50292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73152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73152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Disponibilidade significa garantir que um recurso esteja acessível e utilizável quando usuários autorizados precisarem dele.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428244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430072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451104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451104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Não adianta um sistema proteger perfeitamente seus dados se ninguém conseguir utilizá-lo.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806196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808024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829056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829056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Ataques de negação de serviço procuram justamente prejudicar ou impedir o funcionamento de determinado serviço.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502920" y="4553712"/>
            <a:ext cx="11164824" cy="1636776"/>
          </a:xfrm>
          <a:prstGeom prst="roundRect">
            <a:avLst>
              <a:gd fmla="val 1005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521208" y="4709160"/>
            <a:ext cx="50292" cy="1325880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731520" y="4718304"/>
            <a:ext cx="10707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Exemplo: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731520" y="5148072"/>
            <a:ext cx="107076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O sistema da escola possui todos os dados corretamente protegidos, mas fica fora do ar durante o período de matrícula.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3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3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3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SERVIÇOS DE SEGURANÇA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1" name="Google Shape;581;p13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08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82" name="Google Shape;582;p13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3" name="Google Shape;583;p13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Confidencialidade, Integridade e Disponibilidade</a:t>
            </a:r>
            <a:endParaRPr b="0" i="0" sz="2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Três perguntas importantes sobre uma informação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85" name="Google Shape;585;p13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13"/>
          <p:cNvSpPr/>
          <p:nvPr/>
        </p:nvSpPr>
        <p:spPr>
          <a:xfrm>
            <a:off x="50292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73152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lang="en-US" sz="1610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i="0" lang="en-US" sz="16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onfidencialidade:</a:t>
            </a:r>
            <a:endParaRPr b="0" i="0" sz="16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731520" y="2692888"/>
            <a:ext cx="31578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Somente entidades autorizadas devem conseguir visualizar determinada informação.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428244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430072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3"/>
          <p:cNvSpPr/>
          <p:nvPr/>
        </p:nvSpPr>
        <p:spPr>
          <a:xfrm>
            <a:off x="451104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Integridade: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4511040" y="2692888"/>
            <a:ext cx="31578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Precisamos conseguir determinar se uma informação foi modificada indevidamente.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806196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3"/>
          <p:cNvSpPr/>
          <p:nvPr/>
        </p:nvSpPr>
        <p:spPr>
          <a:xfrm>
            <a:off x="808024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829056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Disponibilidade: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8290560" y="2692888"/>
            <a:ext cx="31578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Informações e sistemas devem estar disponíveis e utilizáveis quando entidades autorizadas precisarem deles.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502920" y="4553712"/>
            <a:ext cx="11155680" cy="1636776"/>
          </a:xfrm>
          <a:prstGeom prst="roundRect">
            <a:avLst>
              <a:gd fmla="val 10056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3"/>
          <p:cNvSpPr/>
          <p:nvPr/>
        </p:nvSpPr>
        <p:spPr>
          <a:xfrm>
            <a:off x="521208" y="4572000"/>
            <a:ext cx="11119104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3"/>
          <p:cNvSpPr/>
          <p:nvPr/>
        </p:nvSpPr>
        <p:spPr>
          <a:xfrm>
            <a:off x="676656" y="4727448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3"/>
          <p:cNvSpPr/>
          <p:nvPr/>
        </p:nvSpPr>
        <p:spPr>
          <a:xfrm>
            <a:off x="859536" y="4727448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3"/>
          <p:cNvSpPr/>
          <p:nvPr/>
        </p:nvSpPr>
        <p:spPr>
          <a:xfrm>
            <a:off x="1042416" y="4727448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1389888" y="4654296"/>
            <a:ext cx="100492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Resumo: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4" name="Google Shape;604;p13"/>
          <p:cNvSpPr/>
          <p:nvPr/>
        </p:nvSpPr>
        <p:spPr>
          <a:xfrm>
            <a:off x="768096" y="5166360"/>
            <a:ext cx="10652760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40"/>
              <a:buFont typeface="Verdana"/>
              <a:buNone/>
            </a:pPr>
            <a:r>
              <a:rPr b="0" i="0" lang="en-US" sz="164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Confidencialidade → Quem pode VER?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40"/>
              <a:buFont typeface="Verdana"/>
              <a:buNone/>
            </a:pPr>
            <a:r>
              <a:rPr b="0" i="0" lang="en-US" sz="164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Integridade → A informação foi ALTERADA?</a:t>
            </a:r>
            <a:r>
              <a:rPr lang="en-US" sz="164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4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40"/>
              <a:buFont typeface="Verdana"/>
              <a:buNone/>
            </a:pPr>
            <a:r>
              <a:rPr b="0" i="0" lang="en-US" sz="164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Disponibilidade → Consigo ACESSAR quando preciso?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4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4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4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4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4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4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4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4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4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4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4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4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4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4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4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SERVIÇOS DE SEGURANÇA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12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39" name="Google Shape;639;p14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0" name="Google Shape;640;p14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Qual propriedade foi comprometida?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1" name="Google Shape;641;p14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Confidencialidade, Integridade ou Disponibilidade?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42" name="Google Shape;642;p14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3" name="Google Shape;643;p14"/>
          <p:cNvSpPr/>
          <p:nvPr/>
        </p:nvSpPr>
        <p:spPr>
          <a:xfrm>
            <a:off x="502920" y="1929384"/>
            <a:ext cx="5495544" cy="1325880"/>
          </a:xfrm>
          <a:prstGeom prst="roundRect">
            <a:avLst>
              <a:gd fmla="val 1241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4"/>
          <p:cNvSpPr/>
          <p:nvPr/>
        </p:nvSpPr>
        <p:spPr>
          <a:xfrm>
            <a:off x="521208" y="2084832"/>
            <a:ext cx="50292" cy="1014984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4"/>
          <p:cNvSpPr/>
          <p:nvPr/>
        </p:nvSpPr>
        <p:spPr>
          <a:xfrm>
            <a:off x="731520" y="2093976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SITUAÇÃO 1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Google Shape;646;p14"/>
          <p:cNvSpPr/>
          <p:nvPr/>
        </p:nvSpPr>
        <p:spPr>
          <a:xfrm>
            <a:off x="731520" y="2523744"/>
            <a:ext cx="503834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68"/>
              <a:buFont typeface="Inter"/>
              <a:buNone/>
            </a:pPr>
            <a:r>
              <a:rPr b="0" i="0" lang="en-US" sz="166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Uma pessoa conseguiu ler mensagens privadas de outro usuário.</a:t>
            </a:r>
            <a:endParaRPr b="0" i="0" sz="166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14"/>
          <p:cNvSpPr/>
          <p:nvPr/>
        </p:nvSpPr>
        <p:spPr>
          <a:xfrm>
            <a:off x="6172200" y="1929384"/>
            <a:ext cx="5495544" cy="1325880"/>
          </a:xfrm>
          <a:prstGeom prst="roundRect">
            <a:avLst>
              <a:gd fmla="val 1241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4"/>
          <p:cNvSpPr/>
          <p:nvPr/>
        </p:nvSpPr>
        <p:spPr>
          <a:xfrm>
            <a:off x="6190488" y="2084832"/>
            <a:ext cx="50292" cy="1014984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4"/>
          <p:cNvSpPr/>
          <p:nvPr/>
        </p:nvSpPr>
        <p:spPr>
          <a:xfrm>
            <a:off x="6400800" y="2093976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SITUAÇÃO 2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0" name="Google Shape;650;p14"/>
          <p:cNvSpPr/>
          <p:nvPr/>
        </p:nvSpPr>
        <p:spPr>
          <a:xfrm>
            <a:off x="6400800" y="2523744"/>
            <a:ext cx="503834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10"/>
              <a:buFont typeface="Inter"/>
              <a:buNone/>
            </a:pPr>
            <a:r>
              <a:rPr b="0" i="0" lang="en-US" sz="171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atacante alterou a nota de um aluno no sistema.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1" name="Google Shape;651;p14"/>
          <p:cNvSpPr/>
          <p:nvPr/>
        </p:nvSpPr>
        <p:spPr>
          <a:xfrm>
            <a:off x="502920" y="3392424"/>
            <a:ext cx="5495544" cy="1325880"/>
          </a:xfrm>
          <a:prstGeom prst="roundRect">
            <a:avLst>
              <a:gd fmla="val 1241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4"/>
          <p:cNvSpPr/>
          <p:nvPr/>
        </p:nvSpPr>
        <p:spPr>
          <a:xfrm>
            <a:off x="521208" y="3547872"/>
            <a:ext cx="50292" cy="1014984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4"/>
          <p:cNvSpPr/>
          <p:nvPr/>
        </p:nvSpPr>
        <p:spPr>
          <a:xfrm>
            <a:off x="731520" y="3557016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SITUAÇÃO 3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4" name="Google Shape;654;p14"/>
          <p:cNvSpPr/>
          <p:nvPr/>
        </p:nvSpPr>
        <p:spPr>
          <a:xfrm>
            <a:off x="731520" y="3986784"/>
            <a:ext cx="503834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68"/>
              <a:buFont typeface="Inter"/>
              <a:buNone/>
            </a:pPr>
            <a:r>
              <a:rPr b="0" i="0" lang="en-US" sz="166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O servidor da escola ficou inacessível durante todo o dia.</a:t>
            </a:r>
            <a:endParaRPr b="0" i="0" sz="166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Google Shape;655;p14"/>
          <p:cNvSpPr/>
          <p:nvPr/>
        </p:nvSpPr>
        <p:spPr>
          <a:xfrm>
            <a:off x="6172200" y="3392424"/>
            <a:ext cx="5495544" cy="1325880"/>
          </a:xfrm>
          <a:prstGeom prst="roundRect">
            <a:avLst>
              <a:gd fmla="val 1241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4"/>
          <p:cNvSpPr/>
          <p:nvPr/>
        </p:nvSpPr>
        <p:spPr>
          <a:xfrm>
            <a:off x="6190488" y="3547872"/>
            <a:ext cx="50292" cy="1014984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4"/>
          <p:cNvSpPr/>
          <p:nvPr/>
        </p:nvSpPr>
        <p:spPr>
          <a:xfrm>
            <a:off x="6400800" y="3557016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SITUAÇÃO 4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8" name="Google Shape;658;p14"/>
          <p:cNvSpPr/>
          <p:nvPr/>
        </p:nvSpPr>
        <p:spPr>
          <a:xfrm>
            <a:off x="6400800" y="3986784"/>
            <a:ext cx="5038344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68"/>
              <a:buFont typeface="Inter"/>
              <a:buNone/>
            </a:pPr>
            <a:r>
              <a:rPr b="0" i="0" lang="en-US" sz="166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arquivo foi alterado sem autorização, mas ninguém percebeu inicialmente.</a:t>
            </a:r>
            <a:endParaRPr b="0" i="0" sz="166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9" name="Google Shape;659;p14"/>
          <p:cNvSpPr/>
          <p:nvPr/>
        </p:nvSpPr>
        <p:spPr>
          <a:xfrm>
            <a:off x="502920" y="5029200"/>
            <a:ext cx="11155680" cy="1097280"/>
          </a:xfrm>
          <a:prstGeom prst="roundRect">
            <a:avLst>
              <a:gd fmla="val 15000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4"/>
          <p:cNvSpPr/>
          <p:nvPr/>
        </p:nvSpPr>
        <p:spPr>
          <a:xfrm>
            <a:off x="676656" y="5193792"/>
            <a:ext cx="50292" cy="768096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4"/>
          <p:cNvSpPr/>
          <p:nvPr/>
        </p:nvSpPr>
        <p:spPr>
          <a:xfrm>
            <a:off x="868680" y="5202936"/>
            <a:ext cx="105339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800"/>
              <a:buFont typeface="Inter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5"/>
          <p:cNvSpPr/>
          <p:nvPr/>
        </p:nvSpPr>
        <p:spPr>
          <a:xfrm>
            <a:off x="9665208" y="45720"/>
            <a:ext cx="2441400" cy="2441400"/>
          </a:xfrm>
          <a:prstGeom prst="ellipse">
            <a:avLst/>
          </a:prstGeom>
          <a:solidFill>
            <a:srgbClr val="291840">
              <a:alpha val="25880"/>
            </a:srgbClr>
          </a:solidFill>
          <a:ln cap="flat" cmpd="sng" w="12700">
            <a:solidFill>
              <a:srgbClr val="64E5DD">
                <a:alpha val="141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5"/>
          <p:cNvSpPr/>
          <p:nvPr/>
        </p:nvSpPr>
        <p:spPr>
          <a:xfrm>
            <a:off x="9857232" y="210312"/>
            <a:ext cx="2030100" cy="2030100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45720" y="5413248"/>
            <a:ext cx="1316700" cy="1316700"/>
          </a:xfrm>
          <a:prstGeom prst="ellipse">
            <a:avLst/>
          </a:prstGeom>
          <a:solidFill>
            <a:srgbClr val="201333">
              <a:alpha val="16860"/>
            </a:srgbClr>
          </a:solidFill>
          <a:ln cap="flat" cmpd="sng" w="12700">
            <a:solidFill>
              <a:srgbClr val="64E5DD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>
            <a:off x="10222992" y="5321808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5"/>
          <p:cNvSpPr/>
          <p:nvPr/>
        </p:nvSpPr>
        <p:spPr>
          <a:xfrm>
            <a:off x="10222992" y="5509260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5"/>
          <p:cNvSpPr/>
          <p:nvPr/>
        </p:nvSpPr>
        <p:spPr>
          <a:xfrm>
            <a:off x="10222992" y="5696712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10410444" y="5321808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10410444" y="5509260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10410444" y="5696712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5"/>
          <p:cNvSpPr/>
          <p:nvPr/>
        </p:nvSpPr>
        <p:spPr>
          <a:xfrm>
            <a:off x="10597896" y="5321808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"/>
          <p:cNvSpPr/>
          <p:nvPr/>
        </p:nvSpPr>
        <p:spPr>
          <a:xfrm>
            <a:off x="10597896" y="5509260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10597896" y="5696712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5"/>
          <p:cNvSpPr/>
          <p:nvPr/>
        </p:nvSpPr>
        <p:spPr>
          <a:xfrm>
            <a:off x="10785348" y="5321808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5"/>
          <p:cNvSpPr/>
          <p:nvPr/>
        </p:nvSpPr>
        <p:spPr>
          <a:xfrm>
            <a:off x="10785348" y="5509260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10785348" y="5696712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10972800" y="5321808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5"/>
          <p:cNvSpPr/>
          <p:nvPr/>
        </p:nvSpPr>
        <p:spPr>
          <a:xfrm>
            <a:off x="10972800" y="5509260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5"/>
          <p:cNvSpPr/>
          <p:nvPr/>
        </p:nvSpPr>
        <p:spPr>
          <a:xfrm>
            <a:off x="10972800" y="5696712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5"/>
          <p:cNvSpPr/>
          <p:nvPr/>
        </p:nvSpPr>
        <p:spPr>
          <a:xfrm>
            <a:off x="11160252" y="5321808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5"/>
          <p:cNvSpPr/>
          <p:nvPr/>
        </p:nvSpPr>
        <p:spPr>
          <a:xfrm>
            <a:off x="11160252" y="5509260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5"/>
          <p:cNvSpPr/>
          <p:nvPr/>
        </p:nvSpPr>
        <p:spPr>
          <a:xfrm>
            <a:off x="11160252" y="5696712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5"/>
          <p:cNvSpPr/>
          <p:nvPr/>
        </p:nvSpPr>
        <p:spPr>
          <a:xfrm>
            <a:off x="11347704" y="5321808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"/>
          <p:cNvSpPr/>
          <p:nvPr/>
        </p:nvSpPr>
        <p:spPr>
          <a:xfrm>
            <a:off x="11347704" y="5509260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5"/>
          <p:cNvSpPr/>
          <p:nvPr/>
        </p:nvSpPr>
        <p:spPr>
          <a:xfrm>
            <a:off x="11347704" y="5696712"/>
            <a:ext cx="21900" cy="21900"/>
          </a:xfrm>
          <a:prstGeom prst="ellipse">
            <a:avLst/>
          </a:prstGeom>
          <a:solidFill>
            <a:srgbClr val="64E5DD">
              <a:alpha val="45100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5"/>
          <p:cNvSpPr/>
          <p:nvPr/>
        </p:nvSpPr>
        <p:spPr>
          <a:xfrm>
            <a:off x="0" y="0"/>
            <a:ext cx="59400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5"/>
          <p:cNvSpPr/>
          <p:nvPr/>
        </p:nvSpPr>
        <p:spPr>
          <a:xfrm>
            <a:off x="493776" y="310896"/>
            <a:ext cx="2757000" cy="301800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5"/>
          <p:cNvSpPr/>
          <p:nvPr/>
        </p:nvSpPr>
        <p:spPr>
          <a:xfrm>
            <a:off x="603504" y="333756"/>
            <a:ext cx="2555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SERVIÇOS DE SEGURANÇA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4" name="Google Shape;694;p15"/>
          <p:cNvSpPr/>
          <p:nvPr/>
        </p:nvSpPr>
        <p:spPr>
          <a:xfrm>
            <a:off x="502920" y="6519672"/>
            <a:ext cx="466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5" name="Google Shape;695;p15"/>
          <p:cNvSpPr/>
          <p:nvPr/>
        </p:nvSpPr>
        <p:spPr>
          <a:xfrm>
            <a:off x="10789920" y="6519672"/>
            <a:ext cx="877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12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96" name="Google Shape;696;p15"/>
          <p:cNvCxnSpPr/>
          <p:nvPr/>
        </p:nvCxnSpPr>
        <p:spPr>
          <a:xfrm>
            <a:off x="502920" y="6419088"/>
            <a:ext cx="11183100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7" name="Google Shape;697;p15"/>
          <p:cNvSpPr/>
          <p:nvPr/>
        </p:nvSpPr>
        <p:spPr>
          <a:xfrm>
            <a:off x="502920" y="768096"/>
            <a:ext cx="11091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Qual propriedade foi comprometida?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8" name="Google Shape;698;p15"/>
          <p:cNvSpPr/>
          <p:nvPr/>
        </p:nvSpPr>
        <p:spPr>
          <a:xfrm>
            <a:off x="521208" y="1316736"/>
            <a:ext cx="1092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Confidencialidade, Integridade ou Disponibilidade?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99" name="Google Shape;699;p15"/>
          <p:cNvCxnSpPr/>
          <p:nvPr/>
        </p:nvCxnSpPr>
        <p:spPr>
          <a:xfrm>
            <a:off x="512064" y="1792224"/>
            <a:ext cx="11146500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p15"/>
          <p:cNvSpPr/>
          <p:nvPr/>
        </p:nvSpPr>
        <p:spPr>
          <a:xfrm>
            <a:off x="502920" y="1929384"/>
            <a:ext cx="5495400" cy="1326000"/>
          </a:xfrm>
          <a:prstGeom prst="roundRect">
            <a:avLst>
              <a:gd fmla="val 1241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5"/>
          <p:cNvSpPr/>
          <p:nvPr/>
        </p:nvSpPr>
        <p:spPr>
          <a:xfrm>
            <a:off x="521208" y="2084832"/>
            <a:ext cx="50400" cy="1014900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5"/>
          <p:cNvSpPr/>
          <p:nvPr/>
        </p:nvSpPr>
        <p:spPr>
          <a:xfrm>
            <a:off x="731520" y="2093976"/>
            <a:ext cx="5038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SITUAÇÃO 1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3" name="Google Shape;703;p15"/>
          <p:cNvSpPr/>
          <p:nvPr/>
        </p:nvSpPr>
        <p:spPr>
          <a:xfrm>
            <a:off x="731520" y="2523744"/>
            <a:ext cx="5038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68"/>
              <a:buFont typeface="Inter"/>
              <a:buNone/>
            </a:pPr>
            <a:r>
              <a:rPr b="0" i="0" lang="en-US" sz="166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Uma pessoa conseguiu ler mensagens privadas de outro usuário.</a:t>
            </a:r>
            <a:endParaRPr b="0" i="0" sz="166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4" name="Google Shape;704;p15"/>
          <p:cNvSpPr/>
          <p:nvPr/>
        </p:nvSpPr>
        <p:spPr>
          <a:xfrm>
            <a:off x="6172200" y="1929384"/>
            <a:ext cx="5495400" cy="1326000"/>
          </a:xfrm>
          <a:prstGeom prst="roundRect">
            <a:avLst>
              <a:gd fmla="val 1241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5"/>
          <p:cNvSpPr/>
          <p:nvPr/>
        </p:nvSpPr>
        <p:spPr>
          <a:xfrm>
            <a:off x="6190488" y="2084832"/>
            <a:ext cx="50400" cy="1014900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5"/>
          <p:cNvSpPr/>
          <p:nvPr/>
        </p:nvSpPr>
        <p:spPr>
          <a:xfrm>
            <a:off x="6400800" y="2093976"/>
            <a:ext cx="5038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SITUAÇÃO 2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7" name="Google Shape;707;p15"/>
          <p:cNvSpPr/>
          <p:nvPr/>
        </p:nvSpPr>
        <p:spPr>
          <a:xfrm>
            <a:off x="6400800" y="2523744"/>
            <a:ext cx="5038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10"/>
              <a:buFont typeface="Inter"/>
              <a:buNone/>
            </a:pPr>
            <a:r>
              <a:rPr b="0" i="0" lang="en-US" sz="171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atacante alterou a nota de um aluno no sistema.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8" name="Google Shape;708;p15"/>
          <p:cNvSpPr/>
          <p:nvPr/>
        </p:nvSpPr>
        <p:spPr>
          <a:xfrm>
            <a:off x="502920" y="3392424"/>
            <a:ext cx="5495400" cy="1326000"/>
          </a:xfrm>
          <a:prstGeom prst="roundRect">
            <a:avLst>
              <a:gd fmla="val 1241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5"/>
          <p:cNvSpPr/>
          <p:nvPr/>
        </p:nvSpPr>
        <p:spPr>
          <a:xfrm>
            <a:off x="521208" y="3547872"/>
            <a:ext cx="50400" cy="1014900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5"/>
          <p:cNvSpPr/>
          <p:nvPr/>
        </p:nvSpPr>
        <p:spPr>
          <a:xfrm>
            <a:off x="731520" y="3557016"/>
            <a:ext cx="5038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SITUAÇÃO 3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1" name="Google Shape;711;p15"/>
          <p:cNvSpPr/>
          <p:nvPr/>
        </p:nvSpPr>
        <p:spPr>
          <a:xfrm>
            <a:off x="731520" y="3986784"/>
            <a:ext cx="5038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68"/>
              <a:buFont typeface="Inter"/>
              <a:buNone/>
            </a:pPr>
            <a:r>
              <a:rPr b="0" i="0" lang="en-US" sz="166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O servidor da escola ficou inacessível durante todo o dia.</a:t>
            </a:r>
            <a:endParaRPr b="0" i="0" sz="166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2" name="Google Shape;712;p15"/>
          <p:cNvSpPr/>
          <p:nvPr/>
        </p:nvSpPr>
        <p:spPr>
          <a:xfrm>
            <a:off x="6172200" y="3392424"/>
            <a:ext cx="5495400" cy="1326000"/>
          </a:xfrm>
          <a:prstGeom prst="roundRect">
            <a:avLst>
              <a:gd fmla="val 1241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5"/>
          <p:cNvSpPr/>
          <p:nvPr/>
        </p:nvSpPr>
        <p:spPr>
          <a:xfrm>
            <a:off x="6190488" y="3547872"/>
            <a:ext cx="50400" cy="1014900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5"/>
          <p:cNvSpPr/>
          <p:nvPr/>
        </p:nvSpPr>
        <p:spPr>
          <a:xfrm>
            <a:off x="6400800" y="3557016"/>
            <a:ext cx="5038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SITUAÇÃO 4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5" name="Google Shape;715;p15"/>
          <p:cNvSpPr/>
          <p:nvPr/>
        </p:nvSpPr>
        <p:spPr>
          <a:xfrm>
            <a:off x="6400800" y="3986784"/>
            <a:ext cx="5038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68"/>
              <a:buFont typeface="Inter"/>
              <a:buNone/>
            </a:pPr>
            <a:r>
              <a:rPr b="0" i="0" lang="en-US" sz="166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arquivo foi alterado sem autorização, mas ninguém percebeu inicialmente.</a:t>
            </a:r>
            <a:endParaRPr b="0" i="0" sz="166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6" name="Google Shape;716;p15"/>
          <p:cNvSpPr/>
          <p:nvPr/>
        </p:nvSpPr>
        <p:spPr>
          <a:xfrm>
            <a:off x="502920" y="5029200"/>
            <a:ext cx="11155800" cy="1097400"/>
          </a:xfrm>
          <a:prstGeom prst="roundRect">
            <a:avLst>
              <a:gd fmla="val 15000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5"/>
          <p:cNvSpPr/>
          <p:nvPr/>
        </p:nvSpPr>
        <p:spPr>
          <a:xfrm>
            <a:off x="676656" y="5193792"/>
            <a:ext cx="50400" cy="76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5"/>
          <p:cNvSpPr/>
          <p:nvPr/>
        </p:nvSpPr>
        <p:spPr>
          <a:xfrm>
            <a:off x="868680" y="5202936"/>
            <a:ext cx="105339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1 → Confidencialidade     2 → Integridade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3 → Disponibilidade         4 → Integridade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6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F18D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6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F18D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6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6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6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6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6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6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6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6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6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6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6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6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6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6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6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6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6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6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6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6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6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6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6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AUTENTICAÇÃO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1" name="Google Shape;751;p16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2" name="Google Shape;752;p16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13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53" name="Google Shape;753;p16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4" name="Google Shape;754;p16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Serviço de Autenticação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Google Shape;755;p16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Como o sistema sabe quem você é?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56" name="Google Shape;756;p16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p16"/>
          <p:cNvSpPr/>
          <p:nvPr/>
        </p:nvSpPr>
        <p:spPr>
          <a:xfrm>
            <a:off x="50292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6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6"/>
          <p:cNvSpPr/>
          <p:nvPr/>
        </p:nvSpPr>
        <p:spPr>
          <a:xfrm>
            <a:off x="73152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0" name="Google Shape;760;p16"/>
          <p:cNvSpPr/>
          <p:nvPr/>
        </p:nvSpPr>
        <p:spPr>
          <a:xfrm>
            <a:off x="73152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Autenticação é o processo utilizado para verificar se uma entidade realmente é quem afirma ser.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428244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6"/>
          <p:cNvSpPr/>
          <p:nvPr/>
        </p:nvSpPr>
        <p:spPr>
          <a:xfrm>
            <a:off x="430072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6"/>
          <p:cNvSpPr/>
          <p:nvPr/>
        </p:nvSpPr>
        <p:spPr>
          <a:xfrm>
            <a:off x="451104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Google Shape;764;p16"/>
          <p:cNvSpPr/>
          <p:nvPr/>
        </p:nvSpPr>
        <p:spPr>
          <a:xfrm>
            <a:off x="451104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Em um sistema, a autenticação de usuário procura comprovar que aquela pessoa está autorizada a utilizar determinada identidade.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5" name="Google Shape;765;p16"/>
          <p:cNvSpPr/>
          <p:nvPr/>
        </p:nvSpPr>
        <p:spPr>
          <a:xfrm>
            <a:off x="806196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6"/>
          <p:cNvSpPr/>
          <p:nvPr/>
        </p:nvSpPr>
        <p:spPr>
          <a:xfrm>
            <a:off x="808024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6"/>
          <p:cNvSpPr/>
          <p:nvPr/>
        </p:nvSpPr>
        <p:spPr>
          <a:xfrm>
            <a:off x="829056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8" name="Google Shape;768;p16"/>
          <p:cNvSpPr/>
          <p:nvPr/>
        </p:nvSpPr>
        <p:spPr>
          <a:xfrm>
            <a:off x="829056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Uma forma comum de autenticação utiliza: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Inter"/>
              <a:buNone/>
            </a:pPr>
            <a:r>
              <a:t/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Usuário + Senha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9" name="Google Shape;769;p16"/>
          <p:cNvSpPr/>
          <p:nvPr/>
        </p:nvSpPr>
        <p:spPr>
          <a:xfrm>
            <a:off x="502920" y="4553712"/>
            <a:ext cx="11164824" cy="1636776"/>
          </a:xfrm>
          <a:prstGeom prst="roundRect">
            <a:avLst>
              <a:gd fmla="val 1005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6"/>
          <p:cNvSpPr/>
          <p:nvPr/>
        </p:nvSpPr>
        <p:spPr>
          <a:xfrm>
            <a:off x="521208" y="4709160"/>
            <a:ext cx="50292" cy="1325880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6"/>
          <p:cNvSpPr/>
          <p:nvPr/>
        </p:nvSpPr>
        <p:spPr>
          <a:xfrm>
            <a:off x="731520" y="4718304"/>
            <a:ext cx="10707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Pergunta principal da autenticação: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2" name="Google Shape;772;p16"/>
          <p:cNvSpPr/>
          <p:nvPr/>
        </p:nvSpPr>
        <p:spPr>
          <a:xfrm>
            <a:off x="731520" y="5148072"/>
            <a:ext cx="107076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“Quem é você e como consegue provar isso?”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7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F18D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7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7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F18D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7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7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7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7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7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7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7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7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7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7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7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7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7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7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7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7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7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7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7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7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7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7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7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7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AUTENTICAÇÃO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5" name="Google Shape;805;p17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Google Shape;806;p17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14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07" name="Google Shape;807;p17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8" name="Google Shape;808;p17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Autenticação ≠ Controle de Acesso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9" name="Google Shape;809;p17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Entrar no sistema não significa poder fazer tudo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0" name="Google Shape;810;p17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1" name="Google Shape;811;p17"/>
          <p:cNvSpPr/>
          <p:nvPr/>
        </p:nvSpPr>
        <p:spPr>
          <a:xfrm>
            <a:off x="502920" y="1956816"/>
            <a:ext cx="5504688" cy="2468880"/>
          </a:xfrm>
          <a:prstGeom prst="roundRect">
            <a:avLst>
              <a:gd fmla="val 666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7"/>
          <p:cNvSpPr/>
          <p:nvPr/>
        </p:nvSpPr>
        <p:spPr>
          <a:xfrm>
            <a:off x="521208" y="2112264"/>
            <a:ext cx="50292" cy="2157984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7"/>
          <p:cNvSpPr/>
          <p:nvPr/>
        </p:nvSpPr>
        <p:spPr>
          <a:xfrm>
            <a:off x="731520" y="2121408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Autenticação: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Google Shape;814;p17"/>
          <p:cNvSpPr/>
          <p:nvPr/>
        </p:nvSpPr>
        <p:spPr>
          <a:xfrm>
            <a:off x="731520" y="2551176"/>
            <a:ext cx="5047488" cy="170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Determina quem é o usuário.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"/>
              <a:buFont typeface="Inter"/>
              <a:buNone/>
            </a:pPr>
            <a:r>
              <a:t/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Pergunta: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Quem é você?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Google Shape;815;p17"/>
          <p:cNvSpPr/>
          <p:nvPr/>
        </p:nvSpPr>
        <p:spPr>
          <a:xfrm>
            <a:off x="6172200" y="1956816"/>
            <a:ext cx="5504688" cy="2468880"/>
          </a:xfrm>
          <a:prstGeom prst="roundRect">
            <a:avLst>
              <a:gd fmla="val 666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7"/>
          <p:cNvSpPr/>
          <p:nvPr/>
        </p:nvSpPr>
        <p:spPr>
          <a:xfrm>
            <a:off x="6190488" y="2112264"/>
            <a:ext cx="50292" cy="2157984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7"/>
          <p:cNvSpPr/>
          <p:nvPr/>
        </p:nvSpPr>
        <p:spPr>
          <a:xfrm>
            <a:off x="6400800" y="2121408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Controle de acesso: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8" name="Google Shape;818;p17"/>
          <p:cNvSpPr/>
          <p:nvPr/>
        </p:nvSpPr>
        <p:spPr>
          <a:xfrm>
            <a:off x="6400800" y="2551176"/>
            <a:ext cx="5047488" cy="170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Determina quais recursos o usuário pode acessar e quais operações possui permissão para realizar.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20"/>
              <a:buFont typeface="Inter"/>
              <a:buNone/>
            </a:pPr>
            <a:r>
              <a:t/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Pergunta: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O que você pode fazer?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9" name="Google Shape;819;p17"/>
          <p:cNvSpPr/>
          <p:nvPr/>
        </p:nvSpPr>
        <p:spPr>
          <a:xfrm>
            <a:off x="502920" y="4617720"/>
            <a:ext cx="11155680" cy="1572768"/>
          </a:xfrm>
          <a:prstGeom prst="roundRect">
            <a:avLst>
              <a:gd fmla="val 1046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7"/>
          <p:cNvSpPr/>
          <p:nvPr/>
        </p:nvSpPr>
        <p:spPr>
          <a:xfrm>
            <a:off x="521208" y="4636008"/>
            <a:ext cx="11119104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7"/>
          <p:cNvSpPr/>
          <p:nvPr/>
        </p:nvSpPr>
        <p:spPr>
          <a:xfrm>
            <a:off x="676656" y="4791456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7"/>
          <p:cNvSpPr/>
          <p:nvPr/>
        </p:nvSpPr>
        <p:spPr>
          <a:xfrm>
            <a:off x="859536" y="4791456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7"/>
          <p:cNvSpPr/>
          <p:nvPr/>
        </p:nvSpPr>
        <p:spPr>
          <a:xfrm>
            <a:off x="1042416" y="4791456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7"/>
          <p:cNvSpPr/>
          <p:nvPr/>
        </p:nvSpPr>
        <p:spPr>
          <a:xfrm>
            <a:off x="1389888" y="4718304"/>
            <a:ext cx="100492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5" name="Google Shape;825;p17"/>
          <p:cNvSpPr/>
          <p:nvPr/>
        </p:nvSpPr>
        <p:spPr>
          <a:xfrm>
            <a:off x="768097" y="5205388"/>
            <a:ext cx="2670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00"/>
              <a:buFont typeface="Verdana"/>
              <a:buNone/>
            </a:pPr>
            <a:r>
              <a:rPr b="0" i="0" lang="en-US" sz="15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ALUNO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00"/>
              <a:buFont typeface="Verdana"/>
              <a:buNone/>
            </a:pPr>
            <a:r>
              <a:rPr b="0" i="0" lang="en-US" sz="15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✅ consultar nota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00"/>
              <a:buFont typeface="Verdana"/>
              <a:buNone/>
            </a:pPr>
            <a:r>
              <a:rPr b="0" i="0" lang="en-US" sz="15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❌ alterar nota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6" name="Google Shape;826;p17"/>
          <p:cNvSpPr txBox="1"/>
          <p:nvPr/>
        </p:nvSpPr>
        <p:spPr>
          <a:xfrm>
            <a:off x="3641200" y="5129788"/>
            <a:ext cx="300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PROFESSOR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✅ consultar nota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✅ alterar nota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8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F18D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8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8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F18D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8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8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8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8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8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8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8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8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8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8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8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8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8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8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8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8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8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8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8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8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8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8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8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8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AUTENTICAÇÃO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9" name="Google Shape;859;p18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0" name="Google Shape;860;p18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15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61" name="Google Shape;861;p18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2" name="Google Shape;862;p18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Senhas como forma de autenticação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3" name="Google Shape;863;p18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Uma senha funciona como uma prova de conhecimento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64" name="Google Shape;864;p18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5" name="Google Shape;865;p18"/>
          <p:cNvSpPr/>
          <p:nvPr/>
        </p:nvSpPr>
        <p:spPr>
          <a:xfrm>
            <a:off x="50292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8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8"/>
          <p:cNvSpPr/>
          <p:nvPr/>
        </p:nvSpPr>
        <p:spPr>
          <a:xfrm>
            <a:off x="73152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8" name="Google Shape;868;p18"/>
          <p:cNvSpPr/>
          <p:nvPr/>
        </p:nvSpPr>
        <p:spPr>
          <a:xfrm>
            <a:off x="73152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Uma senha é uma informação secreta utilizada para demonstrar que determinado usuário conhece uma credencial associada à conta.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9" name="Google Shape;869;p18"/>
          <p:cNvSpPr/>
          <p:nvPr/>
        </p:nvSpPr>
        <p:spPr>
          <a:xfrm>
            <a:off x="428244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8"/>
          <p:cNvSpPr/>
          <p:nvPr/>
        </p:nvSpPr>
        <p:spPr>
          <a:xfrm>
            <a:off x="430072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8"/>
          <p:cNvSpPr/>
          <p:nvPr/>
        </p:nvSpPr>
        <p:spPr>
          <a:xfrm>
            <a:off x="451104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2" name="Google Shape;872;p18"/>
          <p:cNvSpPr/>
          <p:nvPr/>
        </p:nvSpPr>
        <p:spPr>
          <a:xfrm>
            <a:off x="451104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Se outra pessoa descobrir a senha, o sistema pode ter dificuldade para diferenciar o usuário legítimo do atacante.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3" name="Google Shape;873;p18"/>
          <p:cNvSpPr/>
          <p:nvPr/>
        </p:nvSpPr>
        <p:spPr>
          <a:xfrm>
            <a:off x="806196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8"/>
          <p:cNvSpPr/>
          <p:nvPr/>
        </p:nvSpPr>
        <p:spPr>
          <a:xfrm>
            <a:off x="808024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8"/>
          <p:cNvSpPr/>
          <p:nvPr/>
        </p:nvSpPr>
        <p:spPr>
          <a:xfrm>
            <a:off x="829056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Google Shape;876;p18"/>
          <p:cNvSpPr/>
          <p:nvPr/>
        </p:nvSpPr>
        <p:spPr>
          <a:xfrm>
            <a:off x="829056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Por isso, uma senha deve ser difícil de prever e não deve ser compartilhada.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Google Shape;877;p18"/>
          <p:cNvSpPr/>
          <p:nvPr/>
        </p:nvSpPr>
        <p:spPr>
          <a:xfrm>
            <a:off x="502920" y="4553712"/>
            <a:ext cx="11155680" cy="1636776"/>
          </a:xfrm>
          <a:prstGeom prst="roundRect">
            <a:avLst>
              <a:gd fmla="val 10056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8"/>
          <p:cNvSpPr/>
          <p:nvPr/>
        </p:nvSpPr>
        <p:spPr>
          <a:xfrm>
            <a:off x="521208" y="4572000"/>
            <a:ext cx="11119104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8"/>
          <p:cNvSpPr/>
          <p:nvPr/>
        </p:nvSpPr>
        <p:spPr>
          <a:xfrm>
            <a:off x="676656" y="4727448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8"/>
          <p:cNvSpPr/>
          <p:nvPr/>
        </p:nvSpPr>
        <p:spPr>
          <a:xfrm>
            <a:off x="859536" y="4727448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8"/>
          <p:cNvSpPr/>
          <p:nvPr/>
        </p:nvSpPr>
        <p:spPr>
          <a:xfrm>
            <a:off x="1042416" y="4727448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8"/>
          <p:cNvSpPr/>
          <p:nvPr/>
        </p:nvSpPr>
        <p:spPr>
          <a:xfrm>
            <a:off x="1389888" y="4654296"/>
            <a:ext cx="100492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Exemplos de senhas previsíveis: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3" name="Google Shape;883;p18"/>
          <p:cNvSpPr/>
          <p:nvPr/>
        </p:nvSpPr>
        <p:spPr>
          <a:xfrm>
            <a:off x="769650" y="5140650"/>
            <a:ext cx="106527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40"/>
              <a:buFont typeface="Verdana"/>
              <a:buNone/>
            </a:pPr>
            <a:r>
              <a:rPr b="0" i="0" lang="en-US" sz="154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123456</a:t>
            </a:r>
            <a:endParaRPr b="0" i="0" sz="15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40"/>
              <a:buFont typeface="Verdana"/>
              <a:buNone/>
            </a:pPr>
            <a:r>
              <a:rPr b="0" i="0" lang="en-US" sz="154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senha123</a:t>
            </a:r>
            <a:endParaRPr b="0" i="0" sz="15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40"/>
              <a:buFont typeface="Verdana"/>
              <a:buNone/>
            </a:pPr>
            <a:r>
              <a:rPr b="0" i="0" lang="en-US" sz="154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admin123</a:t>
            </a:r>
            <a:endParaRPr b="0" i="0" sz="15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40"/>
              <a:buFont typeface="Verdana"/>
              <a:buNone/>
            </a:pPr>
            <a:r>
              <a:rPr b="0" i="0" lang="en-US" sz="154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ma</a:t>
            </a:r>
            <a:r>
              <a:rPr lang="en-US" sz="154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du</a:t>
            </a:r>
            <a:r>
              <a:rPr b="0" i="0" lang="en-US" sz="154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2008</a:t>
            </a:r>
            <a:endParaRPr b="0" i="0" sz="15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9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F18D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9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9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F18D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9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9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9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9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9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9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9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9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9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9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9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9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9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9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9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9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9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9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9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9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9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9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AUTENTICAÇÃO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Google Shape;916;p19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Google Shape;917;p19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16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18" name="Google Shape;918;p19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9" name="Google Shape;919;p19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Criando senhas mais resistentes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Google Shape;920;p19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Quanto menos previsível, melhor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21" name="Google Shape;921;p19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2" name="Google Shape;922;p19"/>
          <p:cNvSpPr/>
          <p:nvPr/>
        </p:nvSpPr>
        <p:spPr>
          <a:xfrm>
            <a:off x="502920" y="1956816"/>
            <a:ext cx="3614928" cy="2231136"/>
          </a:xfrm>
          <a:prstGeom prst="roundRect">
            <a:avLst>
              <a:gd fmla="val 737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9"/>
          <p:cNvSpPr/>
          <p:nvPr/>
        </p:nvSpPr>
        <p:spPr>
          <a:xfrm>
            <a:off x="521208" y="2112264"/>
            <a:ext cx="50292" cy="1920240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9"/>
          <p:cNvSpPr/>
          <p:nvPr/>
        </p:nvSpPr>
        <p:spPr>
          <a:xfrm>
            <a:off x="73152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Google Shape;925;p19"/>
          <p:cNvSpPr/>
          <p:nvPr/>
        </p:nvSpPr>
        <p:spPr>
          <a:xfrm>
            <a:off x="731520" y="2551176"/>
            <a:ext cx="315772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29"/>
              <a:buFont typeface="Inter"/>
              <a:buNone/>
            </a:pPr>
            <a:r>
              <a:rPr b="0" i="0" lang="en-US" sz="163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Senhas muito curtas possuem menos possibilidades e podem ser testadas com maior facilidade.</a:t>
            </a:r>
            <a:endParaRPr b="0" i="0" sz="16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Google Shape;926;p19"/>
          <p:cNvSpPr/>
          <p:nvPr/>
        </p:nvSpPr>
        <p:spPr>
          <a:xfrm>
            <a:off x="4282440" y="1956816"/>
            <a:ext cx="3614928" cy="2231136"/>
          </a:xfrm>
          <a:prstGeom prst="roundRect">
            <a:avLst>
              <a:gd fmla="val 737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9"/>
          <p:cNvSpPr/>
          <p:nvPr/>
        </p:nvSpPr>
        <p:spPr>
          <a:xfrm>
            <a:off x="4300728" y="2112264"/>
            <a:ext cx="50292" cy="1920240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9"/>
          <p:cNvSpPr/>
          <p:nvPr/>
        </p:nvSpPr>
        <p:spPr>
          <a:xfrm>
            <a:off x="451104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9" name="Google Shape;929;p19"/>
          <p:cNvSpPr/>
          <p:nvPr/>
        </p:nvSpPr>
        <p:spPr>
          <a:xfrm>
            <a:off x="4511040" y="2551176"/>
            <a:ext cx="315772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29"/>
              <a:buFont typeface="Inter"/>
              <a:buNone/>
            </a:pPr>
            <a:r>
              <a:rPr b="0" i="0" lang="en-US" sz="163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Informações pessoais, como nome, aniversário, time ou nome de animais, podem ser previsíveis.</a:t>
            </a:r>
            <a:endParaRPr b="0" i="0" sz="16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Google Shape;930;p19"/>
          <p:cNvSpPr/>
          <p:nvPr/>
        </p:nvSpPr>
        <p:spPr>
          <a:xfrm>
            <a:off x="8061960" y="1956816"/>
            <a:ext cx="3614928" cy="2231136"/>
          </a:xfrm>
          <a:prstGeom prst="roundRect">
            <a:avLst>
              <a:gd fmla="val 737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9"/>
          <p:cNvSpPr/>
          <p:nvPr/>
        </p:nvSpPr>
        <p:spPr>
          <a:xfrm>
            <a:off x="8080248" y="2112264"/>
            <a:ext cx="50292" cy="1920240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9"/>
          <p:cNvSpPr/>
          <p:nvPr/>
        </p:nvSpPr>
        <p:spPr>
          <a:xfrm>
            <a:off x="829056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3" name="Google Shape;933;p19"/>
          <p:cNvSpPr/>
          <p:nvPr/>
        </p:nvSpPr>
        <p:spPr>
          <a:xfrm>
            <a:off x="8290560" y="2551176"/>
            <a:ext cx="315772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29"/>
              <a:buFont typeface="Inter"/>
              <a:buNone/>
            </a:pPr>
            <a:r>
              <a:rPr b="0" i="0" lang="en-US" sz="163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Reutilizar a mesma senha em vários serviços aumenta o impacto de um vazamento.</a:t>
            </a:r>
            <a:endParaRPr b="0" i="0" sz="16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4" name="Google Shape;934;p19"/>
          <p:cNvSpPr/>
          <p:nvPr/>
        </p:nvSpPr>
        <p:spPr>
          <a:xfrm>
            <a:off x="502920" y="4370832"/>
            <a:ext cx="5696712" cy="1783080"/>
          </a:xfrm>
          <a:prstGeom prst="roundRect">
            <a:avLst>
              <a:gd fmla="val 9231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9"/>
          <p:cNvSpPr/>
          <p:nvPr/>
        </p:nvSpPr>
        <p:spPr>
          <a:xfrm>
            <a:off x="521208" y="4526280"/>
            <a:ext cx="50292" cy="1472184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9"/>
          <p:cNvSpPr/>
          <p:nvPr/>
        </p:nvSpPr>
        <p:spPr>
          <a:xfrm>
            <a:off x="731520" y="4535424"/>
            <a:ext cx="5239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Boas práticas: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7" name="Google Shape;937;p19"/>
          <p:cNvSpPr/>
          <p:nvPr/>
        </p:nvSpPr>
        <p:spPr>
          <a:xfrm>
            <a:off x="731520" y="4965192"/>
            <a:ext cx="5239512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18"/>
              <a:buFont typeface="Inter"/>
              <a:buNone/>
            </a:pPr>
            <a:r>
              <a:rPr b="0" i="0" lang="en-US" sz="151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Utilizar senhas longas</a:t>
            </a:r>
            <a:endParaRPr b="0" i="0" sz="151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18"/>
              <a:buFont typeface="Inter"/>
              <a:buNone/>
            </a:pPr>
            <a:r>
              <a:rPr b="0" i="0" lang="en-US" sz="151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Evitar informações óbvias</a:t>
            </a:r>
            <a:endParaRPr b="0" i="0" sz="151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18"/>
              <a:buFont typeface="Inter"/>
              <a:buNone/>
            </a:pPr>
            <a:r>
              <a:rPr b="0" i="0" lang="en-US" sz="151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Não reutilizar a mesma senha</a:t>
            </a:r>
            <a:endParaRPr b="0" i="0" sz="151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18"/>
              <a:buFont typeface="Inter"/>
              <a:buNone/>
            </a:pPr>
            <a:r>
              <a:rPr b="0" i="0" lang="en-US" sz="151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Utilizar autenticação adicional quando disponível</a:t>
            </a:r>
            <a:endParaRPr b="0" i="0" sz="151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8" name="Google Shape;938;p19"/>
          <p:cNvSpPr/>
          <p:nvPr/>
        </p:nvSpPr>
        <p:spPr>
          <a:xfrm>
            <a:off x="6391656" y="4370832"/>
            <a:ext cx="5276088" cy="1783080"/>
          </a:xfrm>
          <a:prstGeom prst="roundRect">
            <a:avLst>
              <a:gd fmla="val 9231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9"/>
          <p:cNvSpPr/>
          <p:nvPr/>
        </p:nvSpPr>
        <p:spPr>
          <a:xfrm>
            <a:off x="6409944" y="4526280"/>
            <a:ext cx="50292" cy="1472184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9"/>
          <p:cNvSpPr/>
          <p:nvPr/>
        </p:nvSpPr>
        <p:spPr>
          <a:xfrm>
            <a:off x="6620256" y="4535424"/>
            <a:ext cx="4818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Observação: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1" name="Google Shape;941;p19"/>
          <p:cNvSpPr/>
          <p:nvPr/>
        </p:nvSpPr>
        <p:spPr>
          <a:xfrm>
            <a:off x="6620256" y="4965192"/>
            <a:ext cx="4818888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0"/>
              <a:buFont typeface="Inter"/>
              <a:buNone/>
            </a:pPr>
            <a:r>
              <a:rPr b="0" i="0" lang="en-US" sz="15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Os critérios que utilizaremos no programa a seguir são didáticos e não representam sozinhos uma avaliação completa da segurança de uma senha.</a:t>
            </a:r>
            <a:endParaRPr b="0" i="0" sz="15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0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F18D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0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0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F18D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0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0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0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0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0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0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0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0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0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0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0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0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0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0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0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0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0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0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0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0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0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0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0"/>
          <p:cNvSpPr/>
          <p:nvPr/>
        </p:nvSpPr>
        <p:spPr>
          <a:xfrm>
            <a:off x="493776" y="310896"/>
            <a:ext cx="275691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0"/>
          <p:cNvSpPr/>
          <p:nvPr/>
        </p:nvSpPr>
        <p:spPr>
          <a:xfrm>
            <a:off x="603504" y="333756"/>
            <a:ext cx="25557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AUTENTICAÇÃO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4" name="Google Shape;974;p20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5" name="Google Shape;975;p20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17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76" name="Google Shape;976;p20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7" name="Google Shape;977;p20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Ataques contra credenciais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Google Shape;978;p20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Nem sempre existe uma “invasão” sofisticada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79" name="Google Shape;979;p20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" name="Google Shape;980;p20"/>
          <p:cNvSpPr/>
          <p:nvPr/>
        </p:nvSpPr>
        <p:spPr>
          <a:xfrm>
            <a:off x="502920" y="1984248"/>
            <a:ext cx="5504688" cy="2048256"/>
          </a:xfrm>
          <a:prstGeom prst="roundRect">
            <a:avLst>
              <a:gd fmla="val 803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0"/>
          <p:cNvSpPr/>
          <p:nvPr/>
        </p:nvSpPr>
        <p:spPr>
          <a:xfrm>
            <a:off x="521208" y="2139696"/>
            <a:ext cx="50292" cy="1737360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0"/>
          <p:cNvSpPr/>
          <p:nvPr/>
        </p:nvSpPr>
        <p:spPr>
          <a:xfrm>
            <a:off x="731520" y="2148840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Adivinhação: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3" name="Google Shape;983;p20"/>
          <p:cNvSpPr/>
          <p:nvPr/>
        </p:nvSpPr>
        <p:spPr>
          <a:xfrm>
            <a:off x="731520" y="2578608"/>
            <a:ext cx="50474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O atacante tenta informações previsíveis relacionadas ao usuário.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4" name="Google Shape;984;p20"/>
          <p:cNvSpPr/>
          <p:nvPr/>
        </p:nvSpPr>
        <p:spPr>
          <a:xfrm>
            <a:off x="6172200" y="1984248"/>
            <a:ext cx="5504688" cy="2048256"/>
          </a:xfrm>
          <a:prstGeom prst="roundRect">
            <a:avLst>
              <a:gd fmla="val 803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0"/>
          <p:cNvSpPr/>
          <p:nvPr/>
        </p:nvSpPr>
        <p:spPr>
          <a:xfrm>
            <a:off x="6190488" y="2139696"/>
            <a:ext cx="50292" cy="1737360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0"/>
          <p:cNvSpPr/>
          <p:nvPr/>
        </p:nvSpPr>
        <p:spPr>
          <a:xfrm>
            <a:off x="6400800" y="2148840"/>
            <a:ext cx="504748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Tentativas automatizadas: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7" name="Google Shape;987;p20"/>
          <p:cNvSpPr/>
          <p:nvPr/>
        </p:nvSpPr>
        <p:spPr>
          <a:xfrm>
            <a:off x="6400800" y="2715768"/>
            <a:ext cx="50474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Programas podem testar grandes quantidades de possibilidades.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Google Shape;988;p20"/>
          <p:cNvSpPr/>
          <p:nvPr/>
        </p:nvSpPr>
        <p:spPr>
          <a:xfrm>
            <a:off x="502920" y="4187952"/>
            <a:ext cx="5504688" cy="2048256"/>
          </a:xfrm>
          <a:prstGeom prst="roundRect">
            <a:avLst>
              <a:gd fmla="val 803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0"/>
          <p:cNvSpPr/>
          <p:nvPr/>
        </p:nvSpPr>
        <p:spPr>
          <a:xfrm>
            <a:off x="521208" y="4343400"/>
            <a:ext cx="50292" cy="1737360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0"/>
          <p:cNvSpPr/>
          <p:nvPr/>
        </p:nvSpPr>
        <p:spPr>
          <a:xfrm>
            <a:off x="731520" y="4352544"/>
            <a:ext cx="5047488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Reutilização de credenciais: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Google Shape;991;p20"/>
          <p:cNvSpPr/>
          <p:nvPr/>
        </p:nvSpPr>
        <p:spPr>
          <a:xfrm>
            <a:off x="731520" y="4919472"/>
            <a:ext cx="50474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Uma senha obtida em um vazamento pode ser testada em outros serviços.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Google Shape;992;p20"/>
          <p:cNvSpPr/>
          <p:nvPr/>
        </p:nvSpPr>
        <p:spPr>
          <a:xfrm>
            <a:off x="6172200" y="4187952"/>
            <a:ext cx="5504688" cy="2048256"/>
          </a:xfrm>
          <a:prstGeom prst="roundRect">
            <a:avLst>
              <a:gd fmla="val 803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0"/>
          <p:cNvSpPr/>
          <p:nvPr/>
        </p:nvSpPr>
        <p:spPr>
          <a:xfrm>
            <a:off x="6190488" y="4343400"/>
            <a:ext cx="50292" cy="1737360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0"/>
          <p:cNvSpPr/>
          <p:nvPr/>
        </p:nvSpPr>
        <p:spPr>
          <a:xfrm>
            <a:off x="6400800" y="4352544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5" name="Google Shape;995;p20"/>
          <p:cNvSpPr/>
          <p:nvPr/>
        </p:nvSpPr>
        <p:spPr>
          <a:xfrm>
            <a:off x="6400800" y="4782312"/>
            <a:ext cx="50474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Em vez de descobrir a senha tecnicamente, o atacante tenta convencer a própria vítima a fornecê-la.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1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1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1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1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1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1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1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1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1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1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1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1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1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1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1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1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1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1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1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1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1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1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1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1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1"/>
          <p:cNvSpPr/>
          <p:nvPr/>
        </p:nvSpPr>
        <p:spPr>
          <a:xfrm>
            <a:off x="493776" y="310896"/>
            <a:ext cx="251917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1"/>
          <p:cNvSpPr/>
          <p:nvPr/>
        </p:nvSpPr>
        <p:spPr>
          <a:xfrm>
            <a:off x="603504" y="333756"/>
            <a:ext cx="23180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PRÁTICA EM PYTHON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8" name="Google Shape;1028;p21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9" name="Google Shape;1029;p21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18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30" name="Google Shape;1030;p21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1" name="Google Shape;1031;p21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Projeto: Analisador de Senhas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2" name="Google Shape;1032;p21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Vamos aplicar algumas regras utilizando Python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33" name="Google Shape;1033;p21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4" name="Google Shape;1034;p21"/>
          <p:cNvSpPr/>
          <p:nvPr/>
        </p:nvSpPr>
        <p:spPr>
          <a:xfrm>
            <a:off x="502920" y="1956816"/>
            <a:ext cx="11164824" cy="649224"/>
          </a:xfrm>
          <a:prstGeom prst="roundRect">
            <a:avLst>
              <a:gd fmla="val 25352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1"/>
          <p:cNvSpPr/>
          <p:nvPr/>
        </p:nvSpPr>
        <p:spPr>
          <a:xfrm>
            <a:off x="676656" y="2121408"/>
            <a:ext cx="50292" cy="32004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1"/>
          <p:cNvSpPr/>
          <p:nvPr/>
        </p:nvSpPr>
        <p:spPr>
          <a:xfrm>
            <a:off x="868680" y="2130552"/>
            <a:ext cx="10543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70"/>
              <a:buFont typeface="Inter"/>
              <a:buNone/>
            </a:pPr>
            <a:r>
              <a:rPr b="1" i="0" lang="en-US" sz="177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Objetivo: Criar um programa que analise determinadas características de uma senha.</a:t>
            </a:r>
            <a:endParaRPr b="0" i="0" sz="17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Google Shape;1037;p21"/>
          <p:cNvSpPr/>
          <p:nvPr/>
        </p:nvSpPr>
        <p:spPr>
          <a:xfrm>
            <a:off x="502920" y="2761488"/>
            <a:ext cx="5696712" cy="3465576"/>
          </a:xfrm>
          <a:prstGeom prst="roundRect">
            <a:avLst>
              <a:gd fmla="val 4749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21"/>
          <p:cNvSpPr/>
          <p:nvPr/>
        </p:nvSpPr>
        <p:spPr>
          <a:xfrm>
            <a:off x="521208" y="2916936"/>
            <a:ext cx="50292" cy="3154680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1"/>
          <p:cNvSpPr/>
          <p:nvPr/>
        </p:nvSpPr>
        <p:spPr>
          <a:xfrm>
            <a:off x="731520" y="2926080"/>
            <a:ext cx="5239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O programa verificará: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21"/>
          <p:cNvSpPr/>
          <p:nvPr/>
        </p:nvSpPr>
        <p:spPr>
          <a:xfrm>
            <a:off x="731520" y="3355848"/>
            <a:ext cx="5239512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Quantidade de caracteres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Existência de letras maiúsculas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Existência de letras minúsculas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Existência de números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Existência de caracteres especiais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1" name="Google Shape;1041;p21"/>
          <p:cNvSpPr/>
          <p:nvPr/>
        </p:nvSpPr>
        <p:spPr>
          <a:xfrm>
            <a:off x="6400800" y="2761488"/>
            <a:ext cx="5276088" cy="3465576"/>
          </a:xfrm>
          <a:prstGeom prst="roundRect">
            <a:avLst>
              <a:gd fmla="val 4749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1"/>
          <p:cNvSpPr/>
          <p:nvPr/>
        </p:nvSpPr>
        <p:spPr>
          <a:xfrm>
            <a:off x="6419088" y="2779776"/>
            <a:ext cx="5239512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21"/>
          <p:cNvSpPr/>
          <p:nvPr/>
        </p:nvSpPr>
        <p:spPr>
          <a:xfrm>
            <a:off x="6574536" y="2935224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1"/>
          <p:cNvSpPr/>
          <p:nvPr/>
        </p:nvSpPr>
        <p:spPr>
          <a:xfrm>
            <a:off x="6757416" y="2935224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1"/>
          <p:cNvSpPr/>
          <p:nvPr/>
        </p:nvSpPr>
        <p:spPr>
          <a:xfrm>
            <a:off x="6940296" y="2935224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1"/>
          <p:cNvSpPr/>
          <p:nvPr/>
        </p:nvSpPr>
        <p:spPr>
          <a:xfrm>
            <a:off x="7287768" y="2862072"/>
            <a:ext cx="41696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esperado: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7" name="Google Shape;1047;p21"/>
          <p:cNvSpPr/>
          <p:nvPr/>
        </p:nvSpPr>
        <p:spPr>
          <a:xfrm>
            <a:off x="6665976" y="3374136"/>
            <a:ext cx="4773168" cy="2715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Digite sua senha: Exemplo123!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Tamanho adequado: ✅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Maiúscula: ✅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Minúscula: ✅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Número: ✅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Caractere especial: ✅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22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2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22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2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22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2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2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2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2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2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22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2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2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2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2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2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22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2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2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2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2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2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2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22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2"/>
          <p:cNvSpPr/>
          <p:nvPr/>
        </p:nvSpPr>
        <p:spPr>
          <a:xfrm>
            <a:off x="493776" y="310896"/>
            <a:ext cx="251917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2"/>
          <p:cNvSpPr/>
          <p:nvPr/>
        </p:nvSpPr>
        <p:spPr>
          <a:xfrm>
            <a:off x="603504" y="333756"/>
            <a:ext cx="23180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PRÁTICA EM PYTHON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0" name="Google Shape;1080;p22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1" name="Google Shape;1081;p22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19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82" name="Google Shape;1082;p22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3" name="Google Shape;1083;p22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Construindo o analisador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4" name="Google Shape;1084;p22"/>
          <p:cNvSpPr/>
          <p:nvPr/>
        </p:nvSpPr>
        <p:spPr>
          <a:xfrm>
            <a:off x="533303" y="1316736"/>
            <a:ext cx="1092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Verificando cada característica da senha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85" name="Google Shape;1085;p22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6" name="Google Shape;1086;p22"/>
          <p:cNvSpPr/>
          <p:nvPr/>
        </p:nvSpPr>
        <p:spPr>
          <a:xfrm>
            <a:off x="502920" y="2002536"/>
            <a:ext cx="6400800" cy="4224528"/>
          </a:xfrm>
          <a:prstGeom prst="roundRect">
            <a:avLst>
              <a:gd fmla="val 3896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2"/>
          <p:cNvSpPr/>
          <p:nvPr/>
        </p:nvSpPr>
        <p:spPr>
          <a:xfrm>
            <a:off x="521208" y="2020824"/>
            <a:ext cx="6364224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2"/>
          <p:cNvSpPr/>
          <p:nvPr/>
        </p:nvSpPr>
        <p:spPr>
          <a:xfrm>
            <a:off x="676656" y="2176272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2"/>
          <p:cNvSpPr/>
          <p:nvPr/>
        </p:nvSpPr>
        <p:spPr>
          <a:xfrm>
            <a:off x="859536" y="2176272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22"/>
          <p:cNvSpPr/>
          <p:nvPr/>
        </p:nvSpPr>
        <p:spPr>
          <a:xfrm>
            <a:off x="1042416" y="2176272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2"/>
          <p:cNvSpPr/>
          <p:nvPr/>
        </p:nvSpPr>
        <p:spPr>
          <a:xfrm>
            <a:off x="1389888" y="2103120"/>
            <a:ext cx="52943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exemplo.py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2" name="Google Shape;1092;p22"/>
          <p:cNvSpPr/>
          <p:nvPr/>
        </p:nvSpPr>
        <p:spPr>
          <a:xfrm>
            <a:off x="768096" y="2615184"/>
            <a:ext cx="58978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senha = input("Digite uma senha: ")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Inter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pontos = 0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Inter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if len(senha) &gt;= 12: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pontos += 1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Inter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if any(c.isupper() for c in senha):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pontos += 1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Inter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if any(c.islower() for c in senha):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pontos += 1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Inter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if any(c.isdigit() for c in senha):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pontos += 1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Inter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if any(not c.isalnum() for c in senha):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pontos += 1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Inter"/>
              <a:buNone/>
            </a:pPr>
            <a:r>
              <a:t/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20"/>
              <a:buFont typeface="Verdana"/>
              <a:buNone/>
            </a:pPr>
            <a:r>
              <a:rPr b="0" i="0" lang="en-US" sz="112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print("Pontuação:", pontos)</a:t>
            </a:r>
            <a:endParaRPr b="0" i="0" sz="11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3" name="Google Shape;1093;p22"/>
          <p:cNvSpPr/>
          <p:nvPr/>
        </p:nvSpPr>
        <p:spPr>
          <a:xfrm>
            <a:off x="7114032" y="2002536"/>
            <a:ext cx="4553712" cy="4224528"/>
          </a:xfrm>
          <a:prstGeom prst="roundRect">
            <a:avLst>
              <a:gd fmla="val 389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22"/>
          <p:cNvSpPr/>
          <p:nvPr/>
        </p:nvSpPr>
        <p:spPr>
          <a:xfrm>
            <a:off x="7132320" y="2157984"/>
            <a:ext cx="50292" cy="3913632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2"/>
          <p:cNvSpPr/>
          <p:nvPr/>
        </p:nvSpPr>
        <p:spPr>
          <a:xfrm>
            <a:off x="7342632" y="2167128"/>
            <a:ext cx="4096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Abaixo do código: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6" name="Google Shape;1096;p22"/>
          <p:cNvSpPr/>
          <p:nvPr/>
        </p:nvSpPr>
        <p:spPr>
          <a:xfrm>
            <a:off x="7342632" y="2596896"/>
            <a:ext cx="4096512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70"/>
              <a:buFont typeface="Inter"/>
              <a:buNone/>
            </a:pPr>
            <a:r>
              <a:rPr b="0" i="0" lang="en-US" sz="15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len() → quantidade de caracteres</a:t>
            </a:r>
            <a:endParaRPr b="0" i="0" sz="15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70"/>
              <a:buFont typeface="Inter"/>
              <a:buNone/>
            </a:pPr>
            <a:r>
              <a:rPr b="0" i="0" lang="en-US" sz="15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isupper() → verifica letra maiúscula</a:t>
            </a:r>
            <a:endParaRPr b="0" i="0" sz="15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70"/>
              <a:buFont typeface="Inter"/>
              <a:buNone/>
            </a:pPr>
            <a:r>
              <a:rPr b="0" i="0" lang="en-US" sz="15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islower() → verifica letra minúscula</a:t>
            </a:r>
            <a:endParaRPr b="0" i="0" sz="15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70"/>
              <a:buFont typeface="Inter"/>
              <a:buNone/>
            </a:pPr>
            <a:r>
              <a:rPr b="0" i="0" lang="en-US" sz="15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isdigit() → verifica número</a:t>
            </a:r>
            <a:endParaRPr b="0" i="0" sz="15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70"/>
              <a:buFont typeface="Inter"/>
              <a:buNone/>
            </a:pPr>
            <a:r>
              <a:rPr b="0" i="0" lang="en-US" sz="15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isalnum() → verifica letra ou número</a:t>
            </a:r>
            <a:endParaRPr b="0" i="0" sz="15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23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3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3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3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3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3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23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3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3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23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23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23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3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3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23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3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3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23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3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3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3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3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3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23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3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3"/>
          <p:cNvSpPr/>
          <p:nvPr/>
        </p:nvSpPr>
        <p:spPr>
          <a:xfrm>
            <a:off x="493776" y="310896"/>
            <a:ext cx="251917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3"/>
          <p:cNvSpPr/>
          <p:nvPr/>
        </p:nvSpPr>
        <p:spPr>
          <a:xfrm>
            <a:off x="603504" y="333756"/>
            <a:ext cx="23180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PRÁTICA EM PYTHON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9" name="Google Shape;1129;p23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0" name="Google Shape;1130;p23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20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31" name="Google Shape;1131;p23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2" name="Google Shape;1132;p23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Agora é com vocês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3" name="Google Shape;1133;p23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Classifique a senha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34" name="Google Shape;1134;p23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5" name="Google Shape;1135;p23"/>
          <p:cNvSpPr/>
          <p:nvPr/>
        </p:nvSpPr>
        <p:spPr>
          <a:xfrm>
            <a:off x="502920" y="1956816"/>
            <a:ext cx="11155680" cy="704088"/>
          </a:xfrm>
          <a:prstGeom prst="roundRect">
            <a:avLst>
              <a:gd fmla="val 23377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3"/>
          <p:cNvSpPr/>
          <p:nvPr/>
        </p:nvSpPr>
        <p:spPr>
          <a:xfrm>
            <a:off x="676656" y="2121408"/>
            <a:ext cx="50292" cy="374904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3"/>
          <p:cNvSpPr/>
          <p:nvPr/>
        </p:nvSpPr>
        <p:spPr>
          <a:xfrm>
            <a:off x="868680" y="2130552"/>
            <a:ext cx="1053388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Enunciado: Utilizando a pontuação calculada pelo programa, adicione uma classificação.</a:t>
            </a:r>
            <a:endParaRPr b="0" i="0" sz="16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8" name="Google Shape;1138;p23"/>
          <p:cNvSpPr/>
          <p:nvPr/>
        </p:nvSpPr>
        <p:spPr>
          <a:xfrm>
            <a:off x="502920" y="2825496"/>
            <a:ext cx="5641848" cy="2304288"/>
          </a:xfrm>
          <a:prstGeom prst="roundRect">
            <a:avLst>
              <a:gd fmla="val 714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23"/>
          <p:cNvSpPr/>
          <p:nvPr/>
        </p:nvSpPr>
        <p:spPr>
          <a:xfrm>
            <a:off x="521208" y="2980944"/>
            <a:ext cx="50292" cy="1993392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3"/>
          <p:cNvSpPr/>
          <p:nvPr/>
        </p:nvSpPr>
        <p:spPr>
          <a:xfrm>
            <a:off x="731520" y="2990088"/>
            <a:ext cx="51846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Regras: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23"/>
          <p:cNvSpPr/>
          <p:nvPr/>
        </p:nvSpPr>
        <p:spPr>
          <a:xfrm>
            <a:off x="731520" y="3419856"/>
            <a:ext cx="5184648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37"/>
              <a:buFont typeface="Inter"/>
              <a:buNone/>
            </a:pPr>
            <a:r>
              <a:rPr b="0" i="0" lang="en-US" sz="183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0 a 2 pontos → Senha FRACA</a:t>
            </a:r>
            <a:endParaRPr b="0" i="0" sz="183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8"/>
              <a:buFont typeface="Inter"/>
              <a:buNone/>
            </a:pPr>
            <a:r>
              <a:t/>
            </a:r>
            <a:endParaRPr b="0" i="0" sz="183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37"/>
              <a:buFont typeface="Inter"/>
              <a:buNone/>
            </a:pPr>
            <a:r>
              <a:rPr b="0" i="0" lang="en-US" sz="183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3 ou 4 pontos → Senha MÉDIA</a:t>
            </a:r>
            <a:endParaRPr b="0" i="0" sz="183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8"/>
              <a:buFont typeface="Inter"/>
              <a:buNone/>
            </a:pPr>
            <a:r>
              <a:t/>
            </a:r>
            <a:endParaRPr b="0" i="0" sz="183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37"/>
              <a:buFont typeface="Inter"/>
              <a:buNone/>
            </a:pPr>
            <a:r>
              <a:rPr b="0" i="0" lang="en-US" sz="1838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5 pontos → Senha FORTE</a:t>
            </a:r>
            <a:endParaRPr b="0" i="0" sz="1838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2" name="Google Shape;1142;p23"/>
          <p:cNvSpPr/>
          <p:nvPr/>
        </p:nvSpPr>
        <p:spPr>
          <a:xfrm>
            <a:off x="6327648" y="2825496"/>
            <a:ext cx="5330952" cy="2304288"/>
          </a:xfrm>
          <a:prstGeom prst="roundRect">
            <a:avLst>
              <a:gd fmla="val 714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23"/>
          <p:cNvSpPr/>
          <p:nvPr/>
        </p:nvSpPr>
        <p:spPr>
          <a:xfrm>
            <a:off x="6345936" y="2980944"/>
            <a:ext cx="50292" cy="1993392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3"/>
          <p:cNvSpPr/>
          <p:nvPr/>
        </p:nvSpPr>
        <p:spPr>
          <a:xfrm>
            <a:off x="6556248" y="2990088"/>
            <a:ext cx="48737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Bônus: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23"/>
          <p:cNvSpPr/>
          <p:nvPr/>
        </p:nvSpPr>
        <p:spPr>
          <a:xfrm>
            <a:off x="6556248" y="3419856"/>
            <a:ext cx="487375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20"/>
              <a:buFont typeface="Inter"/>
              <a:buNone/>
            </a:pPr>
            <a:r>
              <a:rPr b="0" i="0" lang="en-US" sz="18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Exiba uma mensagem específica caso a senha tenha menos de 8 caracteres.</a:t>
            </a:r>
            <a:endParaRPr b="0" i="0" sz="18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6" name="Google Shape;1146;p23"/>
          <p:cNvSpPr/>
          <p:nvPr/>
        </p:nvSpPr>
        <p:spPr>
          <a:xfrm>
            <a:off x="502920" y="5340096"/>
            <a:ext cx="11155680" cy="685800"/>
          </a:xfrm>
          <a:prstGeom prst="roundRect">
            <a:avLst>
              <a:gd fmla="val 24000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23"/>
          <p:cNvSpPr/>
          <p:nvPr/>
        </p:nvSpPr>
        <p:spPr>
          <a:xfrm>
            <a:off x="676656" y="5504688"/>
            <a:ext cx="50292" cy="356616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3"/>
          <p:cNvSpPr/>
          <p:nvPr/>
        </p:nvSpPr>
        <p:spPr>
          <a:xfrm>
            <a:off x="868680" y="5513832"/>
            <a:ext cx="1053388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Tempo sugerido: 10 a 15 minutos.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4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4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4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4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4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4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24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4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24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4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4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4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4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24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24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4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4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4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24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4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24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4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24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24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2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4"/>
          <p:cNvSpPr/>
          <p:nvPr/>
        </p:nvSpPr>
        <p:spPr>
          <a:xfrm>
            <a:off x="493776" y="310896"/>
            <a:ext cx="2281428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24"/>
          <p:cNvSpPr/>
          <p:nvPr/>
        </p:nvSpPr>
        <p:spPr>
          <a:xfrm>
            <a:off x="603504" y="333756"/>
            <a:ext cx="20802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HASH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1" name="Google Shape;1181;p24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2" name="Google Shape;1182;p24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21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83" name="Google Shape;1183;p24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4" name="Google Shape;1184;p24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Como um sistema deve guardar senhas?</a:t>
            </a:r>
            <a:endParaRPr b="0" i="0" sz="2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5" name="Google Shape;1185;p24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Salvar a senha diretamente é perigoso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86" name="Google Shape;1186;p24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7" name="Google Shape;1187;p24"/>
          <p:cNvSpPr/>
          <p:nvPr/>
        </p:nvSpPr>
        <p:spPr>
          <a:xfrm>
            <a:off x="502920" y="1975104"/>
            <a:ext cx="5349240" cy="2743200"/>
          </a:xfrm>
          <a:prstGeom prst="roundRect">
            <a:avLst>
              <a:gd fmla="val 6000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24"/>
          <p:cNvSpPr/>
          <p:nvPr/>
        </p:nvSpPr>
        <p:spPr>
          <a:xfrm>
            <a:off x="521208" y="1993392"/>
            <a:ext cx="5312664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4"/>
          <p:cNvSpPr/>
          <p:nvPr/>
        </p:nvSpPr>
        <p:spPr>
          <a:xfrm>
            <a:off x="676656" y="2148840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24"/>
          <p:cNvSpPr/>
          <p:nvPr/>
        </p:nvSpPr>
        <p:spPr>
          <a:xfrm>
            <a:off x="859536" y="2148840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4"/>
          <p:cNvSpPr/>
          <p:nvPr/>
        </p:nvSpPr>
        <p:spPr>
          <a:xfrm>
            <a:off x="1042416" y="2148840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24"/>
          <p:cNvSpPr/>
          <p:nvPr/>
        </p:nvSpPr>
        <p:spPr>
          <a:xfrm>
            <a:off x="1389888" y="2075688"/>
            <a:ext cx="42428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Imagine este banco de dados: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Google Shape;1193;p24"/>
          <p:cNvSpPr/>
          <p:nvPr/>
        </p:nvSpPr>
        <p:spPr>
          <a:xfrm>
            <a:off x="768096" y="2587752"/>
            <a:ext cx="484632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USUÁRIO       SENHA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joao               joao123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maria            banana123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pedro             abc123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Google Shape;1194;p24"/>
          <p:cNvSpPr/>
          <p:nvPr/>
        </p:nvSpPr>
        <p:spPr>
          <a:xfrm>
            <a:off x="6044184" y="1975104"/>
            <a:ext cx="5623560" cy="1316736"/>
          </a:xfrm>
          <a:prstGeom prst="roundRect">
            <a:avLst>
              <a:gd fmla="val 125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4"/>
          <p:cNvSpPr/>
          <p:nvPr/>
        </p:nvSpPr>
        <p:spPr>
          <a:xfrm>
            <a:off x="6062472" y="2130552"/>
            <a:ext cx="50292" cy="1005840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4"/>
          <p:cNvSpPr/>
          <p:nvPr/>
        </p:nvSpPr>
        <p:spPr>
          <a:xfrm>
            <a:off x="6272784" y="2139696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7" name="Google Shape;1197;p24"/>
          <p:cNvSpPr/>
          <p:nvPr/>
        </p:nvSpPr>
        <p:spPr>
          <a:xfrm>
            <a:off x="6272784" y="2569464"/>
            <a:ext cx="5166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60"/>
              <a:buFont typeface="Inter"/>
              <a:buNone/>
            </a:pPr>
            <a:r>
              <a:rPr b="0" i="0" lang="en-US" sz="166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Se uma pessoa obtiver acesso ao banco de dados, todas as senhas ficarão imediatamente visíveis.</a:t>
            </a:r>
            <a:endParaRPr b="0" i="0" sz="166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8" name="Google Shape;1198;p24"/>
          <p:cNvSpPr/>
          <p:nvPr/>
        </p:nvSpPr>
        <p:spPr>
          <a:xfrm>
            <a:off x="6044184" y="3429000"/>
            <a:ext cx="5623560" cy="1298448"/>
          </a:xfrm>
          <a:prstGeom prst="roundRect">
            <a:avLst>
              <a:gd fmla="val 1267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4"/>
          <p:cNvSpPr/>
          <p:nvPr/>
        </p:nvSpPr>
        <p:spPr>
          <a:xfrm>
            <a:off x="6062472" y="3584448"/>
            <a:ext cx="50292" cy="98755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24"/>
          <p:cNvSpPr/>
          <p:nvPr/>
        </p:nvSpPr>
        <p:spPr>
          <a:xfrm>
            <a:off x="6272784" y="3593592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1" name="Google Shape;1201;p24"/>
          <p:cNvSpPr/>
          <p:nvPr/>
        </p:nvSpPr>
        <p:spPr>
          <a:xfrm>
            <a:off x="6272784" y="4023360"/>
            <a:ext cx="5166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6"/>
              <a:buFont typeface="Inter"/>
              <a:buNone/>
            </a:pPr>
            <a:r>
              <a:rPr b="0" i="0" lang="en-US" sz="1586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Por isso, sistemas não deveriam depender do armazenamento da senha original em texto puro.</a:t>
            </a:r>
            <a:endParaRPr b="0" i="0" sz="1586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2" name="Google Shape;1202;p24"/>
          <p:cNvSpPr/>
          <p:nvPr/>
        </p:nvSpPr>
        <p:spPr>
          <a:xfrm>
            <a:off x="502920" y="4919472"/>
            <a:ext cx="11155680" cy="1188720"/>
          </a:xfrm>
          <a:prstGeom prst="roundRect">
            <a:avLst>
              <a:gd fmla="val 13846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24"/>
          <p:cNvSpPr/>
          <p:nvPr/>
        </p:nvSpPr>
        <p:spPr>
          <a:xfrm>
            <a:off x="676656" y="5084064"/>
            <a:ext cx="50292" cy="859536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24"/>
          <p:cNvSpPr/>
          <p:nvPr/>
        </p:nvSpPr>
        <p:spPr>
          <a:xfrm>
            <a:off x="868680" y="5093208"/>
            <a:ext cx="10533888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20"/>
              <a:buFont typeface="Inter"/>
              <a:buNone/>
            </a:pPr>
            <a:r>
              <a:rPr b="1" i="0" lang="en-US" sz="172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Pergunta: Como verificar uma senha sem precisar guardar diretamente seu conteúdo original?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25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5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25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25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25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25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25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5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25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25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25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5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25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5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5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25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5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25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25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25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5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25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25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25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5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25"/>
          <p:cNvSpPr/>
          <p:nvPr/>
        </p:nvSpPr>
        <p:spPr>
          <a:xfrm>
            <a:off x="493776" y="310896"/>
            <a:ext cx="2281428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25"/>
          <p:cNvSpPr/>
          <p:nvPr/>
        </p:nvSpPr>
        <p:spPr>
          <a:xfrm>
            <a:off x="603504" y="333756"/>
            <a:ext cx="20802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HASH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7" name="Google Shape;1237;p25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8" name="Google Shape;1238;p25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22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39" name="Google Shape;1239;p25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0" name="Google Shape;1240;p25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que é um Hash?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1" name="Google Shape;1241;p25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Uma representação calculada a partir dos dados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42" name="Google Shape;1242;p25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3" name="Google Shape;1243;p25"/>
          <p:cNvSpPr/>
          <p:nvPr/>
        </p:nvSpPr>
        <p:spPr>
          <a:xfrm>
            <a:off x="502920" y="1956816"/>
            <a:ext cx="5504688" cy="1138428"/>
          </a:xfrm>
          <a:prstGeom prst="roundRect">
            <a:avLst>
              <a:gd fmla="val 14458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>
            <a:off x="521208" y="2112264"/>
            <a:ext cx="50292" cy="82753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>
            <a:off x="731520" y="2121408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6" name="Google Shape;1246;p25"/>
          <p:cNvSpPr/>
          <p:nvPr/>
        </p:nvSpPr>
        <p:spPr>
          <a:xfrm>
            <a:off x="731520" y="2551176"/>
            <a:ext cx="5047488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Uma função hash recebe uma informação de entrada e produz um valor de tamanho determinado.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7" name="Google Shape;1247;p25"/>
          <p:cNvSpPr/>
          <p:nvPr/>
        </p:nvSpPr>
        <p:spPr>
          <a:xfrm>
            <a:off x="6172200" y="1956816"/>
            <a:ext cx="5504688" cy="1138428"/>
          </a:xfrm>
          <a:prstGeom prst="roundRect">
            <a:avLst>
              <a:gd fmla="val 14458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>
            <a:off x="6190488" y="2112264"/>
            <a:ext cx="50292" cy="82753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25"/>
          <p:cNvSpPr/>
          <p:nvPr/>
        </p:nvSpPr>
        <p:spPr>
          <a:xfrm>
            <a:off x="6400800" y="2121408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0" name="Google Shape;1250;p25"/>
          <p:cNvSpPr/>
          <p:nvPr/>
        </p:nvSpPr>
        <p:spPr>
          <a:xfrm>
            <a:off x="6400800" y="2551176"/>
            <a:ext cx="5047488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 mesma entrada gera o mesmo resultado quando utilizamos o mesmo algoritmo.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1" name="Google Shape;1251;p25"/>
          <p:cNvSpPr/>
          <p:nvPr/>
        </p:nvSpPr>
        <p:spPr>
          <a:xfrm>
            <a:off x="502920" y="3250692"/>
            <a:ext cx="5504688" cy="1138428"/>
          </a:xfrm>
          <a:prstGeom prst="roundRect">
            <a:avLst>
              <a:gd fmla="val 14458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25"/>
          <p:cNvSpPr/>
          <p:nvPr/>
        </p:nvSpPr>
        <p:spPr>
          <a:xfrm>
            <a:off x="521208" y="3406140"/>
            <a:ext cx="50292" cy="82753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25"/>
          <p:cNvSpPr/>
          <p:nvPr/>
        </p:nvSpPr>
        <p:spPr>
          <a:xfrm>
            <a:off x="731520" y="3415284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4" name="Google Shape;1254;p25"/>
          <p:cNvSpPr/>
          <p:nvPr/>
        </p:nvSpPr>
        <p:spPr>
          <a:xfrm>
            <a:off x="731520" y="3845052"/>
            <a:ext cx="5047488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Uma pequena alteração na entrada produz um resultado diferente.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5" name="Google Shape;1255;p25"/>
          <p:cNvSpPr/>
          <p:nvPr/>
        </p:nvSpPr>
        <p:spPr>
          <a:xfrm>
            <a:off x="6172200" y="3250692"/>
            <a:ext cx="5504688" cy="1138428"/>
          </a:xfrm>
          <a:prstGeom prst="roundRect">
            <a:avLst>
              <a:gd fmla="val 14458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25"/>
          <p:cNvSpPr/>
          <p:nvPr/>
        </p:nvSpPr>
        <p:spPr>
          <a:xfrm>
            <a:off x="6190488" y="3406140"/>
            <a:ext cx="50292" cy="82753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25"/>
          <p:cNvSpPr/>
          <p:nvPr/>
        </p:nvSpPr>
        <p:spPr>
          <a:xfrm>
            <a:off x="6400800" y="3415284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4: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8" name="Google Shape;1258;p25"/>
          <p:cNvSpPr/>
          <p:nvPr/>
        </p:nvSpPr>
        <p:spPr>
          <a:xfrm>
            <a:off x="6400800" y="3845052"/>
            <a:ext cx="5047488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Uma função hash não é criada para que seu resultado seja simplesmente revertido para recuperar a entrada original.</a:t>
            </a:r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9" name="Google Shape;1259;p25"/>
          <p:cNvSpPr/>
          <p:nvPr/>
        </p:nvSpPr>
        <p:spPr>
          <a:xfrm>
            <a:off x="502920" y="4544568"/>
            <a:ext cx="11164824" cy="1618488"/>
          </a:xfrm>
          <a:prstGeom prst="roundRect">
            <a:avLst>
              <a:gd fmla="val 10169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25"/>
          <p:cNvSpPr/>
          <p:nvPr/>
        </p:nvSpPr>
        <p:spPr>
          <a:xfrm>
            <a:off x="521208" y="4700016"/>
            <a:ext cx="50292" cy="130759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25"/>
          <p:cNvSpPr/>
          <p:nvPr/>
        </p:nvSpPr>
        <p:spPr>
          <a:xfrm>
            <a:off x="731520" y="4709160"/>
            <a:ext cx="10707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Exemplo: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2" name="Google Shape;1262;p25"/>
          <p:cNvSpPr/>
          <p:nvPr/>
        </p:nvSpPr>
        <p:spPr>
          <a:xfrm>
            <a:off x="731525" y="5029150"/>
            <a:ext cx="107076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"banana123"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    ↓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  SHA-256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    ↓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valor hash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26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26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6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6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26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6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26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6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6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6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26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26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26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6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26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6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6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26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26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6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26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26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26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26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2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6"/>
          <p:cNvSpPr/>
          <p:nvPr/>
        </p:nvSpPr>
        <p:spPr>
          <a:xfrm>
            <a:off x="493776" y="310896"/>
            <a:ext cx="2281428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6"/>
          <p:cNvSpPr/>
          <p:nvPr/>
        </p:nvSpPr>
        <p:spPr>
          <a:xfrm>
            <a:off x="603504" y="333756"/>
            <a:ext cx="20802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HASH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5" name="Google Shape;1295;p26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6" name="Google Shape;1296;p26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23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297" name="Google Shape;1297;p26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8" name="Google Shape;1298;p26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Hash × Criptografia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Google Shape;1299;p26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Dois conceitos diferentes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00" name="Google Shape;1300;p26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1" name="Google Shape;1301;p26"/>
          <p:cNvSpPr/>
          <p:nvPr/>
        </p:nvSpPr>
        <p:spPr>
          <a:xfrm>
            <a:off x="502920" y="1975104"/>
            <a:ext cx="11164824" cy="452628"/>
          </a:xfrm>
          <a:prstGeom prst="roundRect">
            <a:avLst>
              <a:gd fmla="val 36364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26"/>
          <p:cNvSpPr/>
          <p:nvPr/>
        </p:nvSpPr>
        <p:spPr>
          <a:xfrm>
            <a:off x="713232" y="1993392"/>
            <a:ext cx="5257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79"/>
              <a:buFont typeface="Inter"/>
              <a:buNone/>
            </a:pPr>
            <a:r>
              <a:rPr b="1" i="0" lang="en-US" sz="178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Hash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3" name="Google Shape;1303;p26"/>
          <p:cNvSpPr/>
          <p:nvPr/>
        </p:nvSpPr>
        <p:spPr>
          <a:xfrm>
            <a:off x="6291072" y="1993392"/>
            <a:ext cx="5120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79"/>
              <a:buFont typeface="Inter"/>
              <a:buNone/>
            </a:pPr>
            <a:r>
              <a:rPr b="1" i="0" lang="en-US" sz="178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Criptografia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4" name="Google Shape;1304;p26"/>
          <p:cNvSpPr/>
          <p:nvPr/>
        </p:nvSpPr>
        <p:spPr>
          <a:xfrm>
            <a:off x="502920" y="2478024"/>
            <a:ext cx="11164824" cy="452628"/>
          </a:xfrm>
          <a:prstGeom prst="roundRect">
            <a:avLst>
              <a:gd fmla="val 36364" name="adj"/>
            </a:avLst>
          </a:prstGeom>
          <a:solidFill>
            <a:srgbClr val="1B102E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6"/>
          <p:cNvSpPr/>
          <p:nvPr/>
        </p:nvSpPr>
        <p:spPr>
          <a:xfrm>
            <a:off x="713232" y="2496312"/>
            <a:ext cx="5257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0"/>
              <a:buFont typeface="Inter"/>
              <a:buNone/>
            </a:pPr>
            <a:r>
              <a:rPr b="0" i="0" lang="en-US" sz="15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Não é projetado para ser revertido</a:t>
            </a:r>
            <a:endParaRPr b="0" i="0" sz="15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6" name="Google Shape;1306;p26"/>
          <p:cNvSpPr/>
          <p:nvPr/>
        </p:nvSpPr>
        <p:spPr>
          <a:xfrm>
            <a:off x="6291072" y="2496312"/>
            <a:ext cx="5120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0"/>
              <a:buFont typeface="Inter"/>
              <a:buNone/>
            </a:pPr>
            <a:r>
              <a:rPr b="0" i="0" lang="en-US" sz="15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Existe um processo de decifração</a:t>
            </a:r>
            <a:endParaRPr b="0" i="0" sz="15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7" name="Google Shape;1307;p26"/>
          <p:cNvSpPr/>
          <p:nvPr/>
        </p:nvSpPr>
        <p:spPr>
          <a:xfrm>
            <a:off x="502920" y="2980944"/>
            <a:ext cx="11164824" cy="452628"/>
          </a:xfrm>
          <a:prstGeom prst="roundRect">
            <a:avLst>
              <a:gd fmla="val 3636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26"/>
          <p:cNvSpPr/>
          <p:nvPr/>
        </p:nvSpPr>
        <p:spPr>
          <a:xfrm>
            <a:off x="713232" y="2999232"/>
            <a:ext cx="5257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0"/>
              <a:buFont typeface="Inter"/>
              <a:buNone/>
            </a:pPr>
            <a:r>
              <a:rPr b="0" i="0" lang="en-US" sz="15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Muito utilizado para verificações</a:t>
            </a:r>
            <a:endParaRPr b="0" i="0" sz="15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9" name="Google Shape;1309;p26"/>
          <p:cNvSpPr/>
          <p:nvPr/>
        </p:nvSpPr>
        <p:spPr>
          <a:xfrm>
            <a:off x="6291072" y="2999232"/>
            <a:ext cx="5120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0"/>
              <a:buFont typeface="Inter"/>
              <a:buNone/>
            </a:pPr>
            <a:r>
              <a:rPr b="0" i="0" lang="en-US" sz="15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Utilizada para esconder informações</a:t>
            </a:r>
            <a:endParaRPr b="0" i="0" sz="15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0" name="Google Shape;1310;p26"/>
          <p:cNvSpPr/>
          <p:nvPr/>
        </p:nvSpPr>
        <p:spPr>
          <a:xfrm>
            <a:off x="502920" y="3483864"/>
            <a:ext cx="11164824" cy="452628"/>
          </a:xfrm>
          <a:prstGeom prst="roundRect">
            <a:avLst>
              <a:gd fmla="val 36364" name="adj"/>
            </a:avLst>
          </a:prstGeom>
          <a:solidFill>
            <a:srgbClr val="1B102E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6"/>
          <p:cNvSpPr/>
          <p:nvPr/>
        </p:nvSpPr>
        <p:spPr>
          <a:xfrm>
            <a:off x="713232" y="3502152"/>
            <a:ext cx="5257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0"/>
              <a:buFont typeface="Inter"/>
              <a:buNone/>
            </a:pPr>
            <a:r>
              <a:rPr b="0" i="0" lang="en-US" sz="15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Pode auxiliar na integridade</a:t>
            </a:r>
            <a:endParaRPr b="0" i="0" sz="15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2" name="Google Shape;1312;p26"/>
          <p:cNvSpPr/>
          <p:nvPr/>
        </p:nvSpPr>
        <p:spPr>
          <a:xfrm>
            <a:off x="6291072" y="3502152"/>
            <a:ext cx="5120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0"/>
              <a:buFont typeface="Inter"/>
              <a:buNone/>
            </a:pPr>
            <a:r>
              <a:rPr b="0" i="0" lang="en-US" sz="15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Busca confidencialidade</a:t>
            </a:r>
            <a:endParaRPr b="0" i="0" sz="15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Google Shape;1313;p26"/>
          <p:cNvSpPr/>
          <p:nvPr/>
        </p:nvSpPr>
        <p:spPr>
          <a:xfrm>
            <a:off x="502920" y="3986784"/>
            <a:ext cx="11164824" cy="452628"/>
          </a:xfrm>
          <a:prstGeom prst="roundRect">
            <a:avLst>
              <a:gd fmla="val 3636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26"/>
          <p:cNvSpPr/>
          <p:nvPr/>
        </p:nvSpPr>
        <p:spPr>
          <a:xfrm>
            <a:off x="713232" y="4005072"/>
            <a:ext cx="5257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0"/>
              <a:buFont typeface="Inter"/>
              <a:buNone/>
            </a:pPr>
            <a:r>
              <a:rPr b="0" i="0" lang="en-US" sz="15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Exemplo: SHA-256</a:t>
            </a:r>
            <a:endParaRPr b="0" i="0" sz="15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Google Shape;1315;p26"/>
          <p:cNvSpPr/>
          <p:nvPr/>
        </p:nvSpPr>
        <p:spPr>
          <a:xfrm>
            <a:off x="6291072" y="4005072"/>
            <a:ext cx="51206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0"/>
              <a:buFont typeface="Inter"/>
              <a:buNone/>
            </a:pPr>
            <a:r>
              <a:rPr b="0" i="0" lang="en-US" sz="158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Exemplo: AES</a:t>
            </a:r>
            <a:endParaRPr b="0" i="0" sz="15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6" name="Google Shape;1316;p26"/>
          <p:cNvSpPr/>
          <p:nvPr/>
        </p:nvSpPr>
        <p:spPr>
          <a:xfrm>
            <a:off x="516632" y="4693154"/>
            <a:ext cx="11155800" cy="1472100"/>
          </a:xfrm>
          <a:prstGeom prst="roundRect">
            <a:avLst>
              <a:gd fmla="val 1118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26"/>
          <p:cNvSpPr/>
          <p:nvPr/>
        </p:nvSpPr>
        <p:spPr>
          <a:xfrm>
            <a:off x="521208" y="4873752"/>
            <a:ext cx="50292" cy="1161288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6"/>
          <p:cNvSpPr/>
          <p:nvPr/>
        </p:nvSpPr>
        <p:spPr>
          <a:xfrm>
            <a:off x="731520" y="4882896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Resumo: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9" name="Google Shape;1319;p26"/>
          <p:cNvSpPr/>
          <p:nvPr/>
        </p:nvSpPr>
        <p:spPr>
          <a:xfrm>
            <a:off x="770731" y="5230375"/>
            <a:ext cx="1937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HASH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Entrada → Resultado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0" name="Google Shape;1320;p26"/>
          <p:cNvSpPr txBox="1"/>
          <p:nvPr/>
        </p:nvSpPr>
        <p:spPr>
          <a:xfrm>
            <a:off x="3291075" y="5086975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CRIPTOGRAFIA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Mensagem → Texto cifrado → Mensagem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27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27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27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27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27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27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27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27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7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27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27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27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27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27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27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27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27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27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7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27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7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27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27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27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7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27"/>
          <p:cNvSpPr/>
          <p:nvPr/>
        </p:nvSpPr>
        <p:spPr>
          <a:xfrm>
            <a:off x="493776" y="310896"/>
            <a:ext cx="2281428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7"/>
          <p:cNvSpPr/>
          <p:nvPr/>
        </p:nvSpPr>
        <p:spPr>
          <a:xfrm>
            <a:off x="603504" y="333756"/>
            <a:ext cx="20802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HASH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3" name="Google Shape;1353;p27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4" name="Google Shape;1354;p27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24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55" name="Google Shape;1355;p27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6" name="Google Shape;1356;p27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Calculando SHA-256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7" name="Google Shape;1357;p27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Utilizando a biblioteca hashlib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58" name="Google Shape;1358;p27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9" name="Google Shape;1359;p27"/>
          <p:cNvSpPr/>
          <p:nvPr/>
        </p:nvSpPr>
        <p:spPr>
          <a:xfrm>
            <a:off x="502925" y="2002525"/>
            <a:ext cx="5523000" cy="4224600"/>
          </a:xfrm>
          <a:prstGeom prst="roundRect">
            <a:avLst>
              <a:gd fmla="val 3896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7"/>
          <p:cNvSpPr/>
          <p:nvPr/>
        </p:nvSpPr>
        <p:spPr>
          <a:xfrm>
            <a:off x="518704" y="2020813"/>
            <a:ext cx="54912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7"/>
          <p:cNvSpPr/>
          <p:nvPr/>
        </p:nvSpPr>
        <p:spPr>
          <a:xfrm>
            <a:off x="676656" y="2176272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27"/>
          <p:cNvSpPr/>
          <p:nvPr/>
        </p:nvSpPr>
        <p:spPr>
          <a:xfrm>
            <a:off x="859536" y="2176272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27"/>
          <p:cNvSpPr/>
          <p:nvPr/>
        </p:nvSpPr>
        <p:spPr>
          <a:xfrm>
            <a:off x="1042416" y="2176272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27"/>
          <p:cNvSpPr/>
          <p:nvPr/>
        </p:nvSpPr>
        <p:spPr>
          <a:xfrm>
            <a:off x="1268229" y="2103110"/>
            <a:ext cx="456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exemplo.py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5" name="Google Shape;1365;p27"/>
          <p:cNvSpPr/>
          <p:nvPr/>
        </p:nvSpPr>
        <p:spPr>
          <a:xfrm>
            <a:off x="758049" y="2615175"/>
            <a:ext cx="49887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texto1 = input("Digite um texto (ou Enter para 'ola'): ") or "ola"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t/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hash1 = hashlib.sha256(texto1.encode("utf-8")).hexdigest()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t/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print("Hash:", hash1)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t/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6" name="Google Shape;1366;p27"/>
          <p:cNvSpPr/>
          <p:nvPr/>
        </p:nvSpPr>
        <p:spPr>
          <a:xfrm>
            <a:off x="6336150" y="2002525"/>
            <a:ext cx="5331600" cy="4224600"/>
          </a:xfrm>
          <a:prstGeom prst="roundRect">
            <a:avLst>
              <a:gd fmla="val 389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27"/>
          <p:cNvSpPr/>
          <p:nvPr/>
        </p:nvSpPr>
        <p:spPr>
          <a:xfrm>
            <a:off x="6357562" y="2157974"/>
            <a:ext cx="58800" cy="3913800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27"/>
          <p:cNvSpPr/>
          <p:nvPr/>
        </p:nvSpPr>
        <p:spPr>
          <a:xfrm>
            <a:off x="6603801" y="2167118"/>
            <a:ext cx="479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Explicações: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9" name="Google Shape;1369;p27"/>
          <p:cNvSpPr/>
          <p:nvPr/>
        </p:nvSpPr>
        <p:spPr>
          <a:xfrm>
            <a:off x="6603738" y="2601538"/>
            <a:ext cx="4796400" cy="3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hashlib</a:t>
            </a:r>
            <a:b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Biblioteca do Python com funções de hash.</a:t>
            </a:r>
            <a:endParaRPr sz="142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encode()</a:t>
            </a:r>
            <a:b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Transforma o texto em bytes.</a:t>
            </a:r>
            <a:endParaRPr sz="142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sha256()</a:t>
            </a:r>
            <a:b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Calcula o hash utilizando SHA-256.</a:t>
            </a:r>
            <a:endParaRPr sz="142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hexdigest()</a:t>
            </a:r>
            <a:b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Representa o resultado em formato hexadecimal.</a:t>
            </a:r>
            <a:endParaRPr sz="142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DCD5EE"/>
              </a:buClr>
              <a:buSzPts val="1520"/>
              <a:buFont typeface="Inter"/>
              <a:buNone/>
            </a:pPr>
            <a:r>
              <a:t/>
            </a:r>
            <a:endParaRPr sz="112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28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28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28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28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28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8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8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8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8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8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28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28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28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28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28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28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28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28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28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28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28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28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28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28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28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28"/>
          <p:cNvSpPr/>
          <p:nvPr/>
        </p:nvSpPr>
        <p:spPr>
          <a:xfrm>
            <a:off x="493776" y="310896"/>
            <a:ext cx="216255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28"/>
          <p:cNvSpPr/>
          <p:nvPr/>
        </p:nvSpPr>
        <p:spPr>
          <a:xfrm>
            <a:off x="603504" y="333756"/>
            <a:ext cx="19613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INTEGRIDADE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2" name="Google Shape;1402;p28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3" name="Google Shape;1403;p28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28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04" name="Google Shape;1404;p28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5" name="Google Shape;1405;p28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Hash também pode verificar integridade</a:t>
            </a:r>
            <a:endParaRPr b="0" i="0" sz="2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6" name="Google Shape;1406;p28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O arquivo continua sendo o mesmo?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07" name="Google Shape;1407;p28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8" name="Google Shape;1408;p28"/>
          <p:cNvSpPr/>
          <p:nvPr/>
        </p:nvSpPr>
        <p:spPr>
          <a:xfrm>
            <a:off x="502920" y="1965960"/>
            <a:ext cx="5321808" cy="4251960"/>
          </a:xfrm>
          <a:prstGeom prst="roundRect">
            <a:avLst>
              <a:gd fmla="val 3871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28"/>
          <p:cNvSpPr/>
          <p:nvPr/>
        </p:nvSpPr>
        <p:spPr>
          <a:xfrm>
            <a:off x="521208" y="1984248"/>
            <a:ext cx="5285232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28"/>
          <p:cNvSpPr/>
          <p:nvPr/>
        </p:nvSpPr>
        <p:spPr>
          <a:xfrm>
            <a:off x="676656" y="2139696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28"/>
          <p:cNvSpPr/>
          <p:nvPr/>
        </p:nvSpPr>
        <p:spPr>
          <a:xfrm>
            <a:off x="859536" y="2139696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28"/>
          <p:cNvSpPr/>
          <p:nvPr/>
        </p:nvSpPr>
        <p:spPr>
          <a:xfrm>
            <a:off x="1042416" y="2139696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28"/>
          <p:cNvSpPr/>
          <p:nvPr/>
        </p:nvSpPr>
        <p:spPr>
          <a:xfrm>
            <a:off x="1389888" y="2066544"/>
            <a:ext cx="4215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Arquivo original / Arquivo alterado: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4" name="Google Shape;1414;p28"/>
          <p:cNvSpPr/>
          <p:nvPr/>
        </p:nvSpPr>
        <p:spPr>
          <a:xfrm>
            <a:off x="768096" y="2578608"/>
            <a:ext cx="4818888" cy="3502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Arquivo original: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Transferir R$ 100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↓ SHA-256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Hash A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Arquivo alterado: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Transferir R$ 900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↓ SHA-256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Hash B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Google Shape;1415;p28"/>
          <p:cNvSpPr/>
          <p:nvPr/>
        </p:nvSpPr>
        <p:spPr>
          <a:xfrm>
            <a:off x="5998464" y="1965960"/>
            <a:ext cx="5678424" cy="4251960"/>
          </a:xfrm>
          <a:prstGeom prst="roundRect">
            <a:avLst>
              <a:gd fmla="val 3871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28"/>
          <p:cNvSpPr/>
          <p:nvPr/>
        </p:nvSpPr>
        <p:spPr>
          <a:xfrm>
            <a:off x="6016752" y="2121408"/>
            <a:ext cx="50292" cy="3941064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28"/>
          <p:cNvSpPr/>
          <p:nvPr/>
        </p:nvSpPr>
        <p:spPr>
          <a:xfrm>
            <a:off x="6227064" y="2130552"/>
            <a:ext cx="52212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Conclusão: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8" name="Google Shape;1418;p28"/>
          <p:cNvSpPr/>
          <p:nvPr/>
        </p:nvSpPr>
        <p:spPr>
          <a:xfrm>
            <a:off x="6227064" y="2560320"/>
            <a:ext cx="5221224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Se o conteúdo do arquivo mudar, o valor calculado também muda.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Isso permite comparar o estado atual de um arquivo com um valor conhecido anteriormente.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29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29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29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29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29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29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9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29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29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29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29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29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29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29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29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29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29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29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29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29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29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29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29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29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29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29"/>
          <p:cNvSpPr/>
          <p:nvPr/>
        </p:nvSpPr>
        <p:spPr>
          <a:xfrm>
            <a:off x="493776" y="310896"/>
            <a:ext cx="2162556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29"/>
          <p:cNvSpPr/>
          <p:nvPr/>
        </p:nvSpPr>
        <p:spPr>
          <a:xfrm>
            <a:off x="603504" y="333756"/>
            <a:ext cx="19613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INTEGRIDADE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Google Shape;1451;p29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2" name="Google Shape;1452;p29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29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53" name="Google Shape;1453;p29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4" name="Google Shape;1454;p29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Verificador de Integridade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5" name="Google Shape;1455;p29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Calculando o hash de um arquivo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56" name="Google Shape;1456;p29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7" name="Google Shape;1457;p29"/>
          <p:cNvSpPr/>
          <p:nvPr/>
        </p:nvSpPr>
        <p:spPr>
          <a:xfrm>
            <a:off x="502920" y="1965960"/>
            <a:ext cx="6053328" cy="3273552"/>
          </a:xfrm>
          <a:prstGeom prst="roundRect">
            <a:avLst>
              <a:gd fmla="val 5028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29"/>
          <p:cNvSpPr/>
          <p:nvPr/>
        </p:nvSpPr>
        <p:spPr>
          <a:xfrm>
            <a:off x="521208" y="1984248"/>
            <a:ext cx="6016752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29"/>
          <p:cNvSpPr/>
          <p:nvPr/>
        </p:nvSpPr>
        <p:spPr>
          <a:xfrm>
            <a:off x="676656" y="2139696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29"/>
          <p:cNvSpPr/>
          <p:nvPr/>
        </p:nvSpPr>
        <p:spPr>
          <a:xfrm>
            <a:off x="859536" y="2139696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29"/>
          <p:cNvSpPr/>
          <p:nvPr/>
        </p:nvSpPr>
        <p:spPr>
          <a:xfrm>
            <a:off x="1042416" y="2139696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29"/>
          <p:cNvSpPr/>
          <p:nvPr/>
        </p:nvSpPr>
        <p:spPr>
          <a:xfrm>
            <a:off x="1389888" y="2066544"/>
            <a:ext cx="49469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integridade.py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3" name="Google Shape;1463;p29"/>
          <p:cNvSpPr/>
          <p:nvPr/>
        </p:nvSpPr>
        <p:spPr>
          <a:xfrm>
            <a:off x="768096" y="2578608"/>
            <a:ext cx="5550408" cy="252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lang="en-US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texto1 = input("Digite um texto (ou Enter para 'ola'): ") or "ola"</a:t>
            </a:r>
            <a:endParaRPr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lang="en-US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texto2 = input("Digite uma pequena variacao (ou Enter para 'Ola'): ") or "Ola"</a:t>
            </a:r>
            <a:endParaRPr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t/>
            </a:r>
            <a:endParaRPr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lang="en-US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hash1 = hashlib.sha256(texto1.encode("utf-8")).hexdigest()</a:t>
            </a:r>
            <a:endParaRPr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lang="en-US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hash2 = hashlib.sha256(texto2.encode("utf-8")).hexdigest()</a:t>
            </a:r>
            <a:endParaRPr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t/>
            </a:r>
            <a:endParaRPr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lang="en-US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print("Hash 1:", hash1)</a:t>
            </a:r>
            <a:endParaRPr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lang="en-US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print("Hash 2:", hash2)</a:t>
            </a:r>
            <a:endParaRPr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lang="en-US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print("Sao iguais?", hmac.compare_digest(hash1, hash2))</a:t>
            </a:r>
            <a:endParaRPr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90"/>
              <a:buFont typeface="Verdana"/>
              <a:buNone/>
            </a:pPr>
            <a:r>
              <a:t/>
            </a:r>
            <a:endParaRPr sz="169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4" name="Google Shape;1464;p29"/>
          <p:cNvSpPr/>
          <p:nvPr/>
        </p:nvSpPr>
        <p:spPr>
          <a:xfrm>
            <a:off x="6729984" y="1965960"/>
            <a:ext cx="4937760" cy="3273552"/>
          </a:xfrm>
          <a:prstGeom prst="roundRect">
            <a:avLst>
              <a:gd fmla="val 5028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29"/>
          <p:cNvSpPr/>
          <p:nvPr/>
        </p:nvSpPr>
        <p:spPr>
          <a:xfrm>
            <a:off x="6748272" y="2121408"/>
            <a:ext cx="50292" cy="296265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29"/>
          <p:cNvSpPr/>
          <p:nvPr/>
        </p:nvSpPr>
        <p:spPr>
          <a:xfrm>
            <a:off x="6958584" y="2130552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Atividade: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7" name="Google Shape;1467;p29"/>
          <p:cNvSpPr/>
          <p:nvPr/>
        </p:nvSpPr>
        <p:spPr>
          <a:xfrm>
            <a:off x="6958584" y="2560320"/>
            <a:ext cx="4480560" cy="250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hmac</a:t>
            </a:r>
            <a:b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Biblioteca do Python utilizada para autenticação e comparação segura de dados.</a:t>
            </a:r>
            <a:endParaRPr sz="142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hmac.compare_digest()</a:t>
            </a:r>
            <a:b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2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Compara os dois hashes e retorna True se forem iguais ou False se forem diferentes.</a:t>
            </a:r>
            <a:endParaRPr sz="142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DCD5EE"/>
              </a:buClr>
              <a:buSzPts val="1520"/>
              <a:buFont typeface="Inter"/>
              <a:buNone/>
            </a:pPr>
            <a:r>
              <a:t/>
            </a:r>
            <a:endParaRPr sz="112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60"/>
              <a:buFont typeface="Inter"/>
              <a:buNone/>
            </a:pPr>
            <a:r>
              <a:t/>
            </a:r>
            <a:endParaRPr sz="166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8" name="Google Shape;1468;p29"/>
          <p:cNvSpPr/>
          <p:nvPr/>
        </p:nvSpPr>
        <p:spPr>
          <a:xfrm>
            <a:off x="502920" y="5440680"/>
            <a:ext cx="11155680" cy="694944"/>
          </a:xfrm>
          <a:prstGeom prst="roundRect">
            <a:avLst>
              <a:gd fmla="val 23684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29"/>
          <p:cNvSpPr/>
          <p:nvPr/>
        </p:nvSpPr>
        <p:spPr>
          <a:xfrm>
            <a:off x="676656" y="5605272"/>
            <a:ext cx="50292" cy="36576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29"/>
          <p:cNvSpPr/>
          <p:nvPr/>
        </p:nvSpPr>
        <p:spPr>
          <a:xfrm>
            <a:off x="868680" y="5614416"/>
            <a:ext cx="10533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640"/>
              <a:buFont typeface="Inter"/>
              <a:buNone/>
            </a:pPr>
            <a:r>
              <a:rPr b="1" i="0" lang="en-US" sz="164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Pergunta: O arquivo continua possuindo a mesma integridade em relação à versão anterior?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30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30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30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30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30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30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30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30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30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30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30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30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30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30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30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30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30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30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30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30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30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0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30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30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30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30"/>
          <p:cNvSpPr/>
          <p:nvPr/>
        </p:nvSpPr>
        <p:spPr>
          <a:xfrm>
            <a:off x="493776" y="310896"/>
            <a:ext cx="2281428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30"/>
          <p:cNvSpPr/>
          <p:nvPr/>
        </p:nvSpPr>
        <p:spPr>
          <a:xfrm>
            <a:off x="603504" y="333756"/>
            <a:ext cx="20802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HASH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Google Shape;1503;p30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4" name="Google Shape;1504;p30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27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05" name="Google Shape;1505;p30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6" name="Google Shape;1506;p30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Hash comum não é suficiente para senhas</a:t>
            </a:r>
            <a:endParaRPr b="0" i="0" sz="2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7" name="Google Shape;1507;p30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Senhas possuem necessidades específicas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08" name="Google Shape;1508;p30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9" name="Google Shape;1509;p30"/>
          <p:cNvSpPr/>
          <p:nvPr/>
        </p:nvSpPr>
        <p:spPr>
          <a:xfrm>
            <a:off x="502920" y="1965960"/>
            <a:ext cx="3614928" cy="1828800"/>
          </a:xfrm>
          <a:prstGeom prst="roundRect">
            <a:avLst>
              <a:gd fmla="val 9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30"/>
          <p:cNvSpPr/>
          <p:nvPr/>
        </p:nvSpPr>
        <p:spPr>
          <a:xfrm>
            <a:off x="521208" y="2121408"/>
            <a:ext cx="50292" cy="1517904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30"/>
          <p:cNvSpPr/>
          <p:nvPr/>
        </p:nvSpPr>
        <p:spPr>
          <a:xfrm>
            <a:off x="731520" y="2130552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2" name="Google Shape;1512;p30"/>
          <p:cNvSpPr/>
          <p:nvPr/>
        </p:nvSpPr>
        <p:spPr>
          <a:xfrm>
            <a:off x="731520" y="2560320"/>
            <a:ext cx="3157728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29"/>
              <a:buFont typeface="Inter"/>
              <a:buNone/>
            </a:pPr>
            <a:r>
              <a:rPr b="0" i="0" lang="en-US" sz="163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Algoritmos como SHA-256 foram desenvolvidos para calcular hashes rapidamente.</a:t>
            </a:r>
            <a:endParaRPr b="0" i="0" sz="16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3" name="Google Shape;1513;p30"/>
          <p:cNvSpPr/>
          <p:nvPr/>
        </p:nvSpPr>
        <p:spPr>
          <a:xfrm>
            <a:off x="4282440" y="1965960"/>
            <a:ext cx="3614928" cy="1828800"/>
          </a:xfrm>
          <a:prstGeom prst="roundRect">
            <a:avLst>
              <a:gd fmla="val 9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30"/>
          <p:cNvSpPr/>
          <p:nvPr/>
        </p:nvSpPr>
        <p:spPr>
          <a:xfrm>
            <a:off x="4300728" y="2121408"/>
            <a:ext cx="50292" cy="1517904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0"/>
          <p:cNvSpPr/>
          <p:nvPr/>
        </p:nvSpPr>
        <p:spPr>
          <a:xfrm>
            <a:off x="4511040" y="2130552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6" name="Google Shape;1516;p30"/>
          <p:cNvSpPr/>
          <p:nvPr/>
        </p:nvSpPr>
        <p:spPr>
          <a:xfrm>
            <a:off x="4511040" y="2560320"/>
            <a:ext cx="3157728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86"/>
              <a:buFont typeface="Inter"/>
              <a:buNone/>
            </a:pPr>
            <a:r>
              <a:rPr b="0" i="0" lang="en-US" sz="1586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Para armazenamento de senhas, normalmente queremos dificultar a execução de enormes quantidades de tentativas.</a:t>
            </a:r>
            <a:endParaRPr b="0" i="0" sz="1586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Google Shape;1517;p30"/>
          <p:cNvSpPr/>
          <p:nvPr/>
        </p:nvSpPr>
        <p:spPr>
          <a:xfrm>
            <a:off x="8061960" y="1965960"/>
            <a:ext cx="3614928" cy="1828800"/>
          </a:xfrm>
          <a:prstGeom prst="roundRect">
            <a:avLst>
              <a:gd fmla="val 9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30"/>
          <p:cNvSpPr/>
          <p:nvPr/>
        </p:nvSpPr>
        <p:spPr>
          <a:xfrm>
            <a:off x="8080248" y="2121408"/>
            <a:ext cx="50292" cy="1517904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30"/>
          <p:cNvSpPr/>
          <p:nvPr/>
        </p:nvSpPr>
        <p:spPr>
          <a:xfrm>
            <a:off x="8290560" y="2130552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0" name="Google Shape;1520;p30"/>
          <p:cNvSpPr/>
          <p:nvPr/>
        </p:nvSpPr>
        <p:spPr>
          <a:xfrm>
            <a:off x="8290560" y="2560320"/>
            <a:ext cx="3157728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29"/>
              <a:buFont typeface="Inter"/>
              <a:buNone/>
            </a:pPr>
            <a:r>
              <a:rPr b="0" i="0" lang="en-US" sz="163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Por isso existem mecanismos próprios para processamento de senhas.</a:t>
            </a:r>
            <a:endParaRPr b="0" i="0" sz="16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1" name="Google Shape;1521;p30"/>
          <p:cNvSpPr/>
          <p:nvPr/>
        </p:nvSpPr>
        <p:spPr>
          <a:xfrm>
            <a:off x="502920" y="3968496"/>
            <a:ext cx="3931920" cy="2221992"/>
          </a:xfrm>
          <a:prstGeom prst="roundRect">
            <a:avLst>
              <a:gd fmla="val 740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30"/>
          <p:cNvSpPr/>
          <p:nvPr/>
        </p:nvSpPr>
        <p:spPr>
          <a:xfrm>
            <a:off x="521208" y="4123944"/>
            <a:ext cx="50292" cy="191109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30"/>
          <p:cNvSpPr/>
          <p:nvPr/>
        </p:nvSpPr>
        <p:spPr>
          <a:xfrm>
            <a:off x="731520" y="413308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Exemplos: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4" name="Google Shape;1524;p30"/>
          <p:cNvSpPr/>
          <p:nvPr/>
        </p:nvSpPr>
        <p:spPr>
          <a:xfrm>
            <a:off x="731520" y="4562856"/>
            <a:ext cx="3474720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PBKDF2;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scrypt;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Argon2.</a:t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5" name="Google Shape;1525;p30"/>
          <p:cNvSpPr/>
          <p:nvPr/>
        </p:nvSpPr>
        <p:spPr>
          <a:xfrm>
            <a:off x="4608576" y="3968496"/>
            <a:ext cx="7059168" cy="2221992"/>
          </a:xfrm>
          <a:prstGeom prst="roundRect">
            <a:avLst>
              <a:gd fmla="val 740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30"/>
          <p:cNvSpPr/>
          <p:nvPr/>
        </p:nvSpPr>
        <p:spPr>
          <a:xfrm>
            <a:off x="4626864" y="4123944"/>
            <a:ext cx="50292" cy="191109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30"/>
          <p:cNvSpPr/>
          <p:nvPr/>
        </p:nvSpPr>
        <p:spPr>
          <a:xfrm>
            <a:off x="4837176" y="4133088"/>
            <a:ext cx="6601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Fluxo simplificado: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8" name="Google Shape;1528;p30"/>
          <p:cNvSpPr/>
          <p:nvPr/>
        </p:nvSpPr>
        <p:spPr>
          <a:xfrm>
            <a:off x="4837176" y="4562856"/>
            <a:ext cx="6601968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Senha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 +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Salt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 ↓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Função apropriada para senhas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 ↓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Valor armazenado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31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31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31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31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31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31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31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31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31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31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31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31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31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31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31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31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31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31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31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31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31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31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1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31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31"/>
          <p:cNvSpPr/>
          <p:nvPr/>
        </p:nvSpPr>
        <p:spPr>
          <a:xfrm>
            <a:off x="493776" y="310896"/>
            <a:ext cx="2281428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31"/>
          <p:cNvSpPr/>
          <p:nvPr/>
        </p:nvSpPr>
        <p:spPr>
          <a:xfrm>
            <a:off x="603504" y="333756"/>
            <a:ext cx="20802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HASH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1" name="Google Shape;1561;p31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2" name="Google Shape;1562;p31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25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63" name="Google Shape;1563;p31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4" name="Google Shape;1564;p31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E se dois usuários possuírem a mesma senha?</a:t>
            </a:r>
            <a:endParaRPr b="0" i="0" sz="2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Google Shape;1565;p31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Mesma entrada produz o mesmo hash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66" name="Google Shape;1566;p31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7" name="Google Shape;1567;p31"/>
          <p:cNvSpPr/>
          <p:nvPr/>
        </p:nvSpPr>
        <p:spPr>
          <a:xfrm>
            <a:off x="502920" y="1965960"/>
            <a:ext cx="4572000" cy="3364992"/>
          </a:xfrm>
          <a:prstGeom prst="roundRect">
            <a:avLst>
              <a:gd fmla="val 4891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31"/>
          <p:cNvSpPr/>
          <p:nvPr/>
        </p:nvSpPr>
        <p:spPr>
          <a:xfrm>
            <a:off x="521208" y="1984248"/>
            <a:ext cx="4535424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31"/>
          <p:cNvSpPr/>
          <p:nvPr/>
        </p:nvSpPr>
        <p:spPr>
          <a:xfrm>
            <a:off x="676656" y="2139696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31"/>
          <p:cNvSpPr/>
          <p:nvPr/>
        </p:nvSpPr>
        <p:spPr>
          <a:xfrm>
            <a:off x="859536" y="2139696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31"/>
          <p:cNvSpPr/>
          <p:nvPr/>
        </p:nvSpPr>
        <p:spPr>
          <a:xfrm>
            <a:off x="1042416" y="2139696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31"/>
          <p:cNvSpPr/>
          <p:nvPr/>
        </p:nvSpPr>
        <p:spPr>
          <a:xfrm>
            <a:off x="1389888" y="2066544"/>
            <a:ext cx="34655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3" name="Google Shape;1573;p31"/>
          <p:cNvSpPr/>
          <p:nvPr/>
        </p:nvSpPr>
        <p:spPr>
          <a:xfrm>
            <a:off x="768096" y="2578608"/>
            <a:ext cx="4069080" cy="2615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João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Senha: banana123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Hash: ABCD...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Maria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Senha: banana123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Hash: ABCD...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4" name="Google Shape;1574;p31"/>
          <p:cNvSpPr/>
          <p:nvPr/>
        </p:nvSpPr>
        <p:spPr>
          <a:xfrm>
            <a:off x="5248656" y="1965960"/>
            <a:ext cx="6409944" cy="1527048"/>
          </a:xfrm>
          <a:prstGeom prst="roundRect">
            <a:avLst>
              <a:gd fmla="val 10778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31"/>
          <p:cNvSpPr/>
          <p:nvPr/>
        </p:nvSpPr>
        <p:spPr>
          <a:xfrm>
            <a:off x="5266944" y="2121408"/>
            <a:ext cx="50292" cy="121615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1"/>
          <p:cNvSpPr/>
          <p:nvPr/>
        </p:nvSpPr>
        <p:spPr>
          <a:xfrm>
            <a:off x="5477256" y="2130552"/>
            <a:ext cx="59527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Problema: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7" name="Google Shape;1577;p31"/>
          <p:cNvSpPr/>
          <p:nvPr/>
        </p:nvSpPr>
        <p:spPr>
          <a:xfrm>
            <a:off x="5477256" y="2560320"/>
            <a:ext cx="595274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É possível perceber que os dois usuários possuem entradas iguais mesmo sem conhecer diretamente a senha.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8" name="Google Shape;1578;p31"/>
          <p:cNvSpPr/>
          <p:nvPr/>
        </p:nvSpPr>
        <p:spPr>
          <a:xfrm>
            <a:off x="5248656" y="3666744"/>
            <a:ext cx="6409944" cy="1490472"/>
          </a:xfrm>
          <a:prstGeom prst="roundRect">
            <a:avLst>
              <a:gd fmla="val 1104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31"/>
          <p:cNvSpPr/>
          <p:nvPr/>
        </p:nvSpPr>
        <p:spPr>
          <a:xfrm>
            <a:off x="5266944" y="3822192"/>
            <a:ext cx="50292" cy="11795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31"/>
          <p:cNvSpPr/>
          <p:nvPr/>
        </p:nvSpPr>
        <p:spPr>
          <a:xfrm>
            <a:off x="5477256" y="3831336"/>
            <a:ext cx="595274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Solução utilizada em sistemas de senhas: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1" name="Google Shape;1581;p31"/>
          <p:cNvSpPr/>
          <p:nvPr/>
        </p:nvSpPr>
        <p:spPr>
          <a:xfrm>
            <a:off x="5477256" y="4398264"/>
            <a:ext cx="595274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Adicionar um valor aleatório diferente para cada usuário.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2" name="Google Shape;1582;p31"/>
          <p:cNvSpPr/>
          <p:nvPr/>
        </p:nvSpPr>
        <p:spPr>
          <a:xfrm>
            <a:off x="502920" y="5495544"/>
            <a:ext cx="11155680" cy="630936"/>
          </a:xfrm>
          <a:prstGeom prst="roundRect">
            <a:avLst>
              <a:gd fmla="val 26087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31"/>
          <p:cNvSpPr/>
          <p:nvPr/>
        </p:nvSpPr>
        <p:spPr>
          <a:xfrm>
            <a:off x="676656" y="5660136"/>
            <a:ext cx="50292" cy="301752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31"/>
          <p:cNvSpPr/>
          <p:nvPr/>
        </p:nvSpPr>
        <p:spPr>
          <a:xfrm>
            <a:off x="868680" y="5669280"/>
            <a:ext cx="1053388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829"/>
              <a:buFont typeface="Inter"/>
              <a:buNone/>
            </a:pPr>
            <a:r>
              <a:rPr b="1" i="0" lang="en-US" sz="183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Esse valor é chamado de salt.</a:t>
            </a:r>
            <a:endParaRPr b="0" i="0" sz="18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32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2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32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32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32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32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32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2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32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32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32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32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32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2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32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32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32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2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32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2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32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2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32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32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3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2"/>
          <p:cNvSpPr/>
          <p:nvPr/>
        </p:nvSpPr>
        <p:spPr>
          <a:xfrm>
            <a:off x="493776" y="310896"/>
            <a:ext cx="2281428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32"/>
          <p:cNvSpPr/>
          <p:nvPr/>
        </p:nvSpPr>
        <p:spPr>
          <a:xfrm>
            <a:off x="603504" y="333756"/>
            <a:ext cx="20802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HASH E SENHAS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7" name="Google Shape;1617;p32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8" name="Google Shape;1618;p32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26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19" name="Google Shape;1619;p32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0" name="Google Shape;1620;p32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que é Salt?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1" name="Google Shape;1621;p32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Adicionando aleatoriedade ao processamento da senha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22" name="Google Shape;1622;p32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3" name="Google Shape;1623;p32"/>
          <p:cNvSpPr/>
          <p:nvPr/>
        </p:nvSpPr>
        <p:spPr>
          <a:xfrm>
            <a:off x="502920" y="1965960"/>
            <a:ext cx="11155680" cy="841248"/>
          </a:xfrm>
          <a:prstGeom prst="roundRect">
            <a:avLst>
              <a:gd fmla="val 19565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32"/>
          <p:cNvSpPr/>
          <p:nvPr/>
        </p:nvSpPr>
        <p:spPr>
          <a:xfrm>
            <a:off x="521208" y="2121408"/>
            <a:ext cx="50292" cy="530352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32"/>
          <p:cNvSpPr/>
          <p:nvPr/>
        </p:nvSpPr>
        <p:spPr>
          <a:xfrm>
            <a:off x="699470" y="2281395"/>
            <a:ext cx="106986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Salt é um valor aleatório associado a uma senha antes do processo utilizado para gerar o valor armazenado.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6" name="Google Shape;1626;p32"/>
          <p:cNvSpPr/>
          <p:nvPr/>
        </p:nvSpPr>
        <p:spPr>
          <a:xfrm>
            <a:off x="502920" y="2953512"/>
            <a:ext cx="5404104" cy="2606040"/>
          </a:xfrm>
          <a:prstGeom prst="roundRect">
            <a:avLst>
              <a:gd fmla="val 6316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32"/>
          <p:cNvSpPr/>
          <p:nvPr/>
        </p:nvSpPr>
        <p:spPr>
          <a:xfrm>
            <a:off x="521208" y="2971800"/>
            <a:ext cx="5367528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32"/>
          <p:cNvSpPr/>
          <p:nvPr/>
        </p:nvSpPr>
        <p:spPr>
          <a:xfrm>
            <a:off x="676656" y="3127248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32"/>
          <p:cNvSpPr/>
          <p:nvPr/>
        </p:nvSpPr>
        <p:spPr>
          <a:xfrm>
            <a:off x="859536" y="3127248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32"/>
          <p:cNvSpPr/>
          <p:nvPr/>
        </p:nvSpPr>
        <p:spPr>
          <a:xfrm>
            <a:off x="1042416" y="3127248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32"/>
          <p:cNvSpPr/>
          <p:nvPr/>
        </p:nvSpPr>
        <p:spPr>
          <a:xfrm>
            <a:off x="1389888" y="3054096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Exemplo: João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2" name="Google Shape;1632;p32"/>
          <p:cNvSpPr/>
          <p:nvPr/>
        </p:nvSpPr>
        <p:spPr>
          <a:xfrm>
            <a:off x="768096" y="3566160"/>
            <a:ext cx="4901184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90"/>
              <a:buFont typeface="Verdana"/>
              <a:buNone/>
            </a:pPr>
            <a:r>
              <a:rPr b="0" i="0" lang="en-US" sz="15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João</a:t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Inter"/>
              <a:buNone/>
            </a:pPr>
            <a:r>
              <a:t/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90"/>
              <a:buFont typeface="Verdana"/>
              <a:buNone/>
            </a:pPr>
            <a:r>
              <a:rPr b="0" i="0" lang="en-US" sz="15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senha: banana123</a:t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90"/>
              <a:buFont typeface="Verdana"/>
              <a:buNone/>
            </a:pPr>
            <a:r>
              <a:rPr b="0" i="0" lang="en-US" sz="15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salt: A8F3</a:t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Inter"/>
              <a:buNone/>
            </a:pPr>
            <a:r>
              <a:t/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90"/>
              <a:buFont typeface="Verdana"/>
              <a:buNone/>
            </a:pPr>
            <a:r>
              <a:rPr b="0" i="0" lang="en-US" sz="15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↓ processamento</a:t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Inter"/>
              <a:buNone/>
            </a:pPr>
            <a:r>
              <a:t/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90"/>
              <a:buFont typeface="Verdana"/>
              <a:buNone/>
            </a:pPr>
            <a:r>
              <a:rPr b="0" i="0" lang="en-US" sz="15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Resultado: 82AC...</a:t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Google Shape;1633;p32"/>
          <p:cNvSpPr/>
          <p:nvPr/>
        </p:nvSpPr>
        <p:spPr>
          <a:xfrm>
            <a:off x="6126480" y="2953512"/>
            <a:ext cx="5541264" cy="2606040"/>
          </a:xfrm>
          <a:prstGeom prst="roundRect">
            <a:avLst>
              <a:gd fmla="val 6316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32"/>
          <p:cNvSpPr/>
          <p:nvPr/>
        </p:nvSpPr>
        <p:spPr>
          <a:xfrm>
            <a:off x="6144768" y="2971800"/>
            <a:ext cx="5504688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2"/>
          <p:cNvSpPr/>
          <p:nvPr/>
        </p:nvSpPr>
        <p:spPr>
          <a:xfrm>
            <a:off x="6300216" y="3127248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32"/>
          <p:cNvSpPr/>
          <p:nvPr/>
        </p:nvSpPr>
        <p:spPr>
          <a:xfrm>
            <a:off x="6483096" y="3127248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32"/>
          <p:cNvSpPr/>
          <p:nvPr/>
        </p:nvSpPr>
        <p:spPr>
          <a:xfrm>
            <a:off x="6665976" y="3127248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2"/>
          <p:cNvSpPr/>
          <p:nvPr/>
        </p:nvSpPr>
        <p:spPr>
          <a:xfrm>
            <a:off x="7013448" y="3054096"/>
            <a:ext cx="4434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Exemplo: Maria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32"/>
          <p:cNvSpPr/>
          <p:nvPr/>
        </p:nvSpPr>
        <p:spPr>
          <a:xfrm>
            <a:off x="6391656" y="3566160"/>
            <a:ext cx="5038344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90"/>
              <a:buFont typeface="Verdana"/>
              <a:buNone/>
            </a:pPr>
            <a:r>
              <a:rPr b="0" i="0" lang="en-US" sz="15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Maria</a:t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Inter"/>
              <a:buNone/>
            </a:pPr>
            <a:r>
              <a:t/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90"/>
              <a:buFont typeface="Verdana"/>
              <a:buNone/>
            </a:pPr>
            <a:r>
              <a:rPr b="0" i="0" lang="en-US" sz="15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senha: banana123</a:t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90"/>
              <a:buFont typeface="Verdana"/>
              <a:buNone/>
            </a:pPr>
            <a:r>
              <a:rPr b="0" i="0" lang="en-US" sz="15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salt: 91BD</a:t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Inter"/>
              <a:buNone/>
            </a:pPr>
            <a:r>
              <a:t/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90"/>
              <a:buFont typeface="Verdana"/>
              <a:buNone/>
            </a:pPr>
            <a:r>
              <a:rPr b="0" i="0" lang="en-US" sz="15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↓ processamento</a:t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Font typeface="Inter"/>
              <a:buNone/>
            </a:pPr>
            <a:r>
              <a:t/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590"/>
              <a:buFont typeface="Verdana"/>
              <a:buNone/>
            </a:pPr>
            <a:r>
              <a:rPr b="0" i="0" lang="en-US" sz="159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Resultado: 72F1...</a:t>
            </a:r>
            <a:endParaRPr b="0" i="0" sz="15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0" name="Google Shape;1640;p32"/>
          <p:cNvSpPr/>
          <p:nvPr/>
        </p:nvSpPr>
        <p:spPr>
          <a:xfrm>
            <a:off x="502920" y="5687568"/>
            <a:ext cx="11155680" cy="539496"/>
          </a:xfrm>
          <a:prstGeom prst="roundRect">
            <a:avLst>
              <a:gd fmla="val 30508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2"/>
          <p:cNvSpPr/>
          <p:nvPr/>
        </p:nvSpPr>
        <p:spPr>
          <a:xfrm>
            <a:off x="676656" y="5852160"/>
            <a:ext cx="50292" cy="210312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32"/>
          <p:cNvSpPr/>
          <p:nvPr/>
        </p:nvSpPr>
        <p:spPr>
          <a:xfrm>
            <a:off x="868680" y="5861304"/>
            <a:ext cx="1053388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Conclusão: Mesmo utilizando a mesma senha, os valores finais podem ser diferentes.</a:t>
            </a:r>
            <a:endParaRPr b="0" i="0" sz="17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33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33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3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33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3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33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33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33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33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33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33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33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33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3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33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3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33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33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3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3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3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33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3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33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3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33"/>
          <p:cNvSpPr/>
          <p:nvPr/>
        </p:nvSpPr>
        <p:spPr>
          <a:xfrm>
            <a:off x="493776" y="310896"/>
            <a:ext cx="222199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33"/>
          <p:cNvSpPr/>
          <p:nvPr/>
        </p:nvSpPr>
        <p:spPr>
          <a:xfrm>
            <a:off x="603504" y="333756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CRIPTOGRAFIA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5" name="Google Shape;1675;p33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6" name="Google Shape;1676;p33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30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77" name="Google Shape;1677;p33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8" name="Google Shape;1678;p33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Criptografia e Confidencialidade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9" name="Google Shape;1679;p33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Como esconder uma informação?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680" name="Google Shape;1680;p33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1" name="Google Shape;1681;p33"/>
          <p:cNvSpPr/>
          <p:nvPr/>
        </p:nvSpPr>
        <p:spPr>
          <a:xfrm>
            <a:off x="50292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3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3"/>
          <p:cNvSpPr/>
          <p:nvPr/>
        </p:nvSpPr>
        <p:spPr>
          <a:xfrm>
            <a:off x="73152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4" name="Google Shape;1684;p33"/>
          <p:cNvSpPr/>
          <p:nvPr/>
        </p:nvSpPr>
        <p:spPr>
          <a:xfrm>
            <a:off x="73152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Hash permite verificar informações, mas não é utilizado para recuperar posteriormente o conteúdo original.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5" name="Google Shape;1685;p33"/>
          <p:cNvSpPr/>
          <p:nvPr/>
        </p:nvSpPr>
        <p:spPr>
          <a:xfrm>
            <a:off x="428244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3"/>
          <p:cNvSpPr/>
          <p:nvPr/>
        </p:nvSpPr>
        <p:spPr>
          <a:xfrm>
            <a:off x="430072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3"/>
          <p:cNvSpPr/>
          <p:nvPr/>
        </p:nvSpPr>
        <p:spPr>
          <a:xfrm>
            <a:off x="451104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Google Shape;1688;p33"/>
          <p:cNvSpPr/>
          <p:nvPr/>
        </p:nvSpPr>
        <p:spPr>
          <a:xfrm>
            <a:off x="451104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Existem situações em que precisamos proteger uma informação e depois conseguir recuperá-la.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9" name="Google Shape;1689;p33"/>
          <p:cNvSpPr/>
          <p:nvPr/>
        </p:nvSpPr>
        <p:spPr>
          <a:xfrm>
            <a:off x="806196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33"/>
          <p:cNvSpPr/>
          <p:nvPr/>
        </p:nvSpPr>
        <p:spPr>
          <a:xfrm>
            <a:off x="808024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33"/>
          <p:cNvSpPr/>
          <p:nvPr/>
        </p:nvSpPr>
        <p:spPr>
          <a:xfrm>
            <a:off x="829056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2" name="Google Shape;1692;p33"/>
          <p:cNvSpPr/>
          <p:nvPr/>
        </p:nvSpPr>
        <p:spPr>
          <a:xfrm>
            <a:off x="829056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Para isso podemos utilizar criptografia.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3" name="Google Shape;1693;p33"/>
          <p:cNvSpPr/>
          <p:nvPr/>
        </p:nvSpPr>
        <p:spPr>
          <a:xfrm>
            <a:off x="502920" y="4553712"/>
            <a:ext cx="11164824" cy="1636776"/>
          </a:xfrm>
          <a:prstGeom prst="roundRect">
            <a:avLst>
              <a:gd fmla="val 1005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33"/>
          <p:cNvSpPr/>
          <p:nvPr/>
        </p:nvSpPr>
        <p:spPr>
          <a:xfrm>
            <a:off x="521208" y="4709160"/>
            <a:ext cx="50292" cy="1325880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33"/>
          <p:cNvSpPr/>
          <p:nvPr/>
        </p:nvSpPr>
        <p:spPr>
          <a:xfrm>
            <a:off x="731520" y="4718304"/>
            <a:ext cx="10707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Exemplos: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6" name="Google Shape;1696;p33"/>
          <p:cNvSpPr/>
          <p:nvPr/>
        </p:nvSpPr>
        <p:spPr>
          <a:xfrm>
            <a:off x="731520" y="5148072"/>
            <a:ext cx="107076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90"/>
              <a:buFont typeface="Inter"/>
              <a:buNone/>
            </a:pPr>
            <a:r>
              <a:rPr b="0" i="0" lang="en-US" sz="189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Mensagens    </a:t>
            </a:r>
            <a:r>
              <a:rPr lang="en-US" sz="189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Dados transmitidos por redes</a:t>
            </a:r>
            <a:endParaRPr b="0" i="0" sz="1890" u="none" cap="none" strike="noStrike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90"/>
              <a:buFont typeface="Inter"/>
              <a:buNone/>
            </a:pPr>
            <a:r>
              <a:rPr b="0" i="0" lang="en-US" sz="189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Arquivos   </a:t>
            </a:r>
            <a:r>
              <a:rPr lang="en-US" sz="189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b="0" i="0" lang="en-US" sz="189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 • Informações armazenadas</a:t>
            </a:r>
            <a:endParaRPr b="0" i="0" sz="18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34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34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34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34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34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4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34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4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34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4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34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4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34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4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34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34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34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4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34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34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34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4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34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4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3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4"/>
          <p:cNvSpPr/>
          <p:nvPr/>
        </p:nvSpPr>
        <p:spPr>
          <a:xfrm>
            <a:off x="493776" y="310896"/>
            <a:ext cx="222199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34"/>
          <p:cNvSpPr/>
          <p:nvPr/>
        </p:nvSpPr>
        <p:spPr>
          <a:xfrm>
            <a:off x="603504" y="333756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CRIPTOGRAFIA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9" name="Google Shape;1729;p34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0" name="Google Shape;1730;p34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31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31" name="Google Shape;1731;p34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2" name="Google Shape;1732;p34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Criptografia Simétrica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3" name="Google Shape;1733;p34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Transformando texto legível em texto cifrado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34" name="Google Shape;1734;p34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5" name="Google Shape;1735;p34"/>
          <p:cNvSpPr/>
          <p:nvPr/>
        </p:nvSpPr>
        <p:spPr>
          <a:xfrm>
            <a:off x="521208" y="1984248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Os cinco elementos principais são: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Google Shape;1736;p34"/>
          <p:cNvSpPr/>
          <p:nvPr/>
        </p:nvSpPr>
        <p:spPr>
          <a:xfrm>
            <a:off x="502920" y="2395728"/>
            <a:ext cx="3614928" cy="1787652"/>
          </a:xfrm>
          <a:prstGeom prst="roundRect">
            <a:avLst>
              <a:gd fmla="val 920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34"/>
          <p:cNvSpPr/>
          <p:nvPr/>
        </p:nvSpPr>
        <p:spPr>
          <a:xfrm>
            <a:off x="521208" y="2551176"/>
            <a:ext cx="50292" cy="147675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4"/>
          <p:cNvSpPr/>
          <p:nvPr/>
        </p:nvSpPr>
        <p:spPr>
          <a:xfrm>
            <a:off x="731520" y="256032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1. Texto legível: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9" name="Google Shape;1739;p34"/>
          <p:cNvSpPr/>
          <p:nvPr/>
        </p:nvSpPr>
        <p:spPr>
          <a:xfrm>
            <a:off x="731520" y="2990088"/>
            <a:ext cx="3157728" cy="1019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Mensagem ou informação original.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0" name="Google Shape;1740;p34"/>
          <p:cNvSpPr/>
          <p:nvPr/>
        </p:nvSpPr>
        <p:spPr>
          <a:xfrm>
            <a:off x="4282440" y="2395728"/>
            <a:ext cx="3614928" cy="1787652"/>
          </a:xfrm>
          <a:prstGeom prst="roundRect">
            <a:avLst>
              <a:gd fmla="val 920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4"/>
          <p:cNvSpPr/>
          <p:nvPr/>
        </p:nvSpPr>
        <p:spPr>
          <a:xfrm>
            <a:off x="4300728" y="2551176"/>
            <a:ext cx="50292" cy="147675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4"/>
          <p:cNvSpPr/>
          <p:nvPr/>
        </p:nvSpPr>
        <p:spPr>
          <a:xfrm>
            <a:off x="4511040" y="256032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2. Algoritmo de cifração: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3" name="Google Shape;1743;p34"/>
          <p:cNvSpPr/>
          <p:nvPr/>
        </p:nvSpPr>
        <p:spPr>
          <a:xfrm>
            <a:off x="4511040" y="2990088"/>
            <a:ext cx="3157728" cy="1019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Realiza as transformações sobre os dados.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4" name="Google Shape;1744;p34"/>
          <p:cNvSpPr/>
          <p:nvPr/>
        </p:nvSpPr>
        <p:spPr>
          <a:xfrm>
            <a:off x="8061960" y="2395728"/>
            <a:ext cx="3614928" cy="1787652"/>
          </a:xfrm>
          <a:prstGeom prst="roundRect">
            <a:avLst>
              <a:gd fmla="val 920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34"/>
          <p:cNvSpPr/>
          <p:nvPr/>
        </p:nvSpPr>
        <p:spPr>
          <a:xfrm>
            <a:off x="8080248" y="2551176"/>
            <a:ext cx="50292" cy="147675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4"/>
          <p:cNvSpPr/>
          <p:nvPr/>
        </p:nvSpPr>
        <p:spPr>
          <a:xfrm>
            <a:off x="8290560" y="256032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3. Chave secreta: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7" name="Google Shape;1747;p34"/>
          <p:cNvSpPr/>
          <p:nvPr/>
        </p:nvSpPr>
        <p:spPr>
          <a:xfrm>
            <a:off x="8290560" y="2990088"/>
            <a:ext cx="3157728" cy="1019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Valor utilizado pelo algoritmo durante o processo de cifração.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8" name="Google Shape;1748;p34"/>
          <p:cNvSpPr/>
          <p:nvPr/>
        </p:nvSpPr>
        <p:spPr>
          <a:xfrm>
            <a:off x="502920" y="4338828"/>
            <a:ext cx="3614928" cy="1787652"/>
          </a:xfrm>
          <a:prstGeom prst="roundRect">
            <a:avLst>
              <a:gd fmla="val 920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34"/>
          <p:cNvSpPr/>
          <p:nvPr/>
        </p:nvSpPr>
        <p:spPr>
          <a:xfrm>
            <a:off x="521208" y="4494276"/>
            <a:ext cx="50292" cy="147675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4"/>
          <p:cNvSpPr/>
          <p:nvPr/>
        </p:nvSpPr>
        <p:spPr>
          <a:xfrm>
            <a:off x="731520" y="450342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4. Texto cifrado: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1" name="Google Shape;1751;p34"/>
          <p:cNvSpPr/>
          <p:nvPr/>
        </p:nvSpPr>
        <p:spPr>
          <a:xfrm>
            <a:off x="731520" y="4933188"/>
            <a:ext cx="3157728" cy="1019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Resultado embaralhado e não inteligível.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2" name="Google Shape;1752;p34"/>
          <p:cNvSpPr/>
          <p:nvPr/>
        </p:nvSpPr>
        <p:spPr>
          <a:xfrm>
            <a:off x="4282440" y="4338828"/>
            <a:ext cx="3614928" cy="1787652"/>
          </a:xfrm>
          <a:prstGeom prst="roundRect">
            <a:avLst>
              <a:gd fmla="val 920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34"/>
          <p:cNvSpPr/>
          <p:nvPr/>
        </p:nvSpPr>
        <p:spPr>
          <a:xfrm>
            <a:off x="4300728" y="4494276"/>
            <a:ext cx="50292" cy="147675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34"/>
          <p:cNvSpPr/>
          <p:nvPr/>
        </p:nvSpPr>
        <p:spPr>
          <a:xfrm>
            <a:off x="4511040" y="4503420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5. Algoritmo de decifração: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5" name="Google Shape;1755;p34"/>
          <p:cNvSpPr/>
          <p:nvPr/>
        </p:nvSpPr>
        <p:spPr>
          <a:xfrm>
            <a:off x="4511040" y="4933188"/>
            <a:ext cx="3157728" cy="1019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Utiliza o texto cifrado e a chave para recuperar a informação original.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35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35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35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5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35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5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35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5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35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35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35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35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5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35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35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5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35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5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35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35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35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35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35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35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5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35"/>
          <p:cNvSpPr/>
          <p:nvPr/>
        </p:nvSpPr>
        <p:spPr>
          <a:xfrm>
            <a:off x="493776" y="310896"/>
            <a:ext cx="222199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35"/>
          <p:cNvSpPr/>
          <p:nvPr/>
        </p:nvSpPr>
        <p:spPr>
          <a:xfrm>
            <a:off x="603504" y="333756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CRIPTOGRAFIA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8" name="Google Shape;1788;p35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9" name="Google Shape;1789;p35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32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90" name="Google Shape;1790;p35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1" name="Google Shape;1791;p35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Da mensagem ao texto cifrado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2" name="Google Shape;1792;p35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A chave participa do processo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93" name="Google Shape;1793;p35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4" name="Google Shape;1794;p35"/>
          <p:cNvSpPr/>
          <p:nvPr/>
        </p:nvSpPr>
        <p:spPr>
          <a:xfrm>
            <a:off x="502920" y="1956816"/>
            <a:ext cx="5294376" cy="4261104"/>
          </a:xfrm>
          <a:prstGeom prst="roundRect">
            <a:avLst>
              <a:gd fmla="val 3863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35"/>
          <p:cNvSpPr/>
          <p:nvPr/>
        </p:nvSpPr>
        <p:spPr>
          <a:xfrm>
            <a:off x="521208" y="1975104"/>
            <a:ext cx="5257800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35"/>
          <p:cNvSpPr/>
          <p:nvPr/>
        </p:nvSpPr>
        <p:spPr>
          <a:xfrm>
            <a:off x="676656" y="2130552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35"/>
          <p:cNvSpPr/>
          <p:nvPr/>
        </p:nvSpPr>
        <p:spPr>
          <a:xfrm>
            <a:off x="859536" y="2130552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35"/>
          <p:cNvSpPr/>
          <p:nvPr/>
        </p:nvSpPr>
        <p:spPr>
          <a:xfrm>
            <a:off x="1042416" y="2130552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35"/>
          <p:cNvSpPr/>
          <p:nvPr/>
        </p:nvSpPr>
        <p:spPr>
          <a:xfrm>
            <a:off x="1389888" y="2057400"/>
            <a:ext cx="41879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Fluxo: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0" name="Google Shape;1800;p35"/>
          <p:cNvSpPr/>
          <p:nvPr/>
        </p:nvSpPr>
        <p:spPr>
          <a:xfrm>
            <a:off x="768096" y="2569464"/>
            <a:ext cx="4791456" cy="3511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Mensagem original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+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Chave K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↓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Cifração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↓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Texto cifrado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↓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Decifração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+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Chave K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↓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Mensagem original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1" name="Google Shape;1801;p35"/>
          <p:cNvSpPr/>
          <p:nvPr/>
        </p:nvSpPr>
        <p:spPr>
          <a:xfrm>
            <a:off x="5980176" y="1956816"/>
            <a:ext cx="5687568" cy="4261104"/>
          </a:xfrm>
          <a:prstGeom prst="roundRect">
            <a:avLst>
              <a:gd fmla="val 386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5"/>
          <p:cNvSpPr/>
          <p:nvPr/>
        </p:nvSpPr>
        <p:spPr>
          <a:xfrm>
            <a:off x="5998464" y="2112264"/>
            <a:ext cx="50292" cy="3950208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5"/>
          <p:cNvSpPr/>
          <p:nvPr/>
        </p:nvSpPr>
        <p:spPr>
          <a:xfrm>
            <a:off x="6208776" y="2121408"/>
            <a:ext cx="5230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Google Shape;1804;p35"/>
          <p:cNvSpPr/>
          <p:nvPr/>
        </p:nvSpPr>
        <p:spPr>
          <a:xfrm>
            <a:off x="6208776" y="2551176"/>
            <a:ext cx="5230368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Na criptografia simétrica, emissor e receptor compartilham uma chave secreta.</a:t>
            </a:r>
            <a:endParaRPr b="0" i="0" sz="2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36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36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36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36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36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6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36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36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36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36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36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36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36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36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36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36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36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36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36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36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36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36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36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36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3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36"/>
          <p:cNvSpPr/>
          <p:nvPr/>
        </p:nvSpPr>
        <p:spPr>
          <a:xfrm>
            <a:off x="493776" y="310896"/>
            <a:ext cx="222199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36"/>
          <p:cNvSpPr/>
          <p:nvPr/>
        </p:nvSpPr>
        <p:spPr>
          <a:xfrm>
            <a:off x="603504" y="333756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CRIPTOGRAFIA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7" name="Google Shape;1837;p36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Google Shape;1838;p36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33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39" name="Google Shape;1839;p36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0" name="Google Shape;1840;p36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algoritmo pode ser conhecido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1" name="Google Shape;1841;p36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O segredo deve estar na chave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42" name="Google Shape;1842;p36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3" name="Google Shape;1843;p36"/>
          <p:cNvSpPr/>
          <p:nvPr/>
        </p:nvSpPr>
        <p:spPr>
          <a:xfrm>
            <a:off x="50292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36"/>
          <p:cNvSpPr/>
          <p:nvPr/>
        </p:nvSpPr>
        <p:spPr>
          <a:xfrm>
            <a:off x="52120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36"/>
          <p:cNvSpPr/>
          <p:nvPr/>
        </p:nvSpPr>
        <p:spPr>
          <a:xfrm>
            <a:off x="73152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6" name="Google Shape;1846;p36"/>
          <p:cNvSpPr/>
          <p:nvPr/>
        </p:nvSpPr>
        <p:spPr>
          <a:xfrm>
            <a:off x="73152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algoritmo criptográfico seguro não deve depender do fato de ninguém conhecer seu funcionamento.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7" name="Google Shape;1847;p36"/>
          <p:cNvSpPr/>
          <p:nvPr/>
        </p:nvSpPr>
        <p:spPr>
          <a:xfrm>
            <a:off x="428244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36"/>
          <p:cNvSpPr/>
          <p:nvPr/>
        </p:nvSpPr>
        <p:spPr>
          <a:xfrm>
            <a:off x="430072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36"/>
          <p:cNvSpPr/>
          <p:nvPr/>
        </p:nvSpPr>
        <p:spPr>
          <a:xfrm>
            <a:off x="451104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0" name="Google Shape;1850;p36"/>
          <p:cNvSpPr/>
          <p:nvPr/>
        </p:nvSpPr>
        <p:spPr>
          <a:xfrm>
            <a:off x="451104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Mesmo conhecendo o algoritmo, uma pessoa sem a chave adequada não deveria conseguir recuperar a informação de maneira viável.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1" name="Google Shape;1851;p36"/>
          <p:cNvSpPr/>
          <p:nvPr/>
        </p:nvSpPr>
        <p:spPr>
          <a:xfrm>
            <a:off x="8061960" y="1956816"/>
            <a:ext cx="3614928" cy="2404872"/>
          </a:xfrm>
          <a:prstGeom prst="roundRect">
            <a:avLst>
              <a:gd fmla="val 6844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36"/>
          <p:cNvSpPr/>
          <p:nvPr/>
        </p:nvSpPr>
        <p:spPr>
          <a:xfrm>
            <a:off x="8080248" y="2112264"/>
            <a:ext cx="50292" cy="2093976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36"/>
          <p:cNvSpPr/>
          <p:nvPr/>
        </p:nvSpPr>
        <p:spPr>
          <a:xfrm>
            <a:off x="8290560" y="2121408"/>
            <a:ext cx="3157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Tópico 3: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4" name="Google Shape;1854;p36"/>
          <p:cNvSpPr/>
          <p:nvPr/>
        </p:nvSpPr>
        <p:spPr>
          <a:xfrm>
            <a:off x="8290560" y="2551176"/>
            <a:ext cx="3157728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0"/>
              <a:buFont typeface="Inter"/>
              <a:buNone/>
            </a:pPr>
            <a:r>
              <a:rPr b="0" i="0" lang="en-US" sz="16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Emissor e receptor precisam manter a chave secreta protegida.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5" name="Google Shape;1855;p36"/>
          <p:cNvSpPr/>
          <p:nvPr/>
        </p:nvSpPr>
        <p:spPr>
          <a:xfrm>
            <a:off x="502920" y="4553712"/>
            <a:ext cx="11164824" cy="1636776"/>
          </a:xfrm>
          <a:prstGeom prst="roundRect">
            <a:avLst>
              <a:gd fmla="val 1005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36"/>
          <p:cNvSpPr/>
          <p:nvPr/>
        </p:nvSpPr>
        <p:spPr>
          <a:xfrm>
            <a:off x="521208" y="4709160"/>
            <a:ext cx="50292" cy="1325880"/>
          </a:xfrm>
          <a:prstGeom prst="roundRect">
            <a:avLst>
              <a:gd fmla="val 327273" name="adj"/>
            </a:avLst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36"/>
          <p:cNvSpPr/>
          <p:nvPr/>
        </p:nvSpPr>
        <p:spPr>
          <a:xfrm>
            <a:off x="731520" y="4718304"/>
            <a:ext cx="1070762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Problema importante: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Google Shape;1858;p36"/>
          <p:cNvSpPr/>
          <p:nvPr/>
        </p:nvSpPr>
        <p:spPr>
          <a:xfrm>
            <a:off x="731520" y="5148072"/>
            <a:ext cx="107076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Como entregar essa chave de maneira segura para a outra pessoa?</a:t>
            </a:r>
            <a:endParaRPr b="0" i="0" sz="1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37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B784FF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37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37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B784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37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37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37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37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37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37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37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37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37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37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37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37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37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37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37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37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37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37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37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37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37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B784FF">
              <a:alpha val="45098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37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37"/>
          <p:cNvSpPr/>
          <p:nvPr/>
        </p:nvSpPr>
        <p:spPr>
          <a:xfrm>
            <a:off x="493776" y="310896"/>
            <a:ext cx="222199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37"/>
          <p:cNvSpPr/>
          <p:nvPr/>
        </p:nvSpPr>
        <p:spPr>
          <a:xfrm>
            <a:off x="603504" y="333756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CRIPTOGRAFIA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1" name="Google Shape;1891;p37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Google Shape;1892;p37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34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93" name="Google Shape;1893;p37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4" name="Google Shape;1894;p37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Entendendo uma transformação com XOR</a:t>
            </a:r>
            <a:endParaRPr b="0" i="0" sz="2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5" name="Google Shape;1895;p37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Um exemplo simples para visualizar a ideia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96" name="Google Shape;1896;p37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7" name="Google Shape;1897;p37"/>
          <p:cNvSpPr/>
          <p:nvPr/>
        </p:nvSpPr>
        <p:spPr>
          <a:xfrm>
            <a:off x="521208" y="1993392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Tabela XOR: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8" name="Google Shape;1898;p37"/>
          <p:cNvSpPr/>
          <p:nvPr/>
        </p:nvSpPr>
        <p:spPr>
          <a:xfrm>
            <a:off x="521208" y="2350008"/>
            <a:ext cx="777240" cy="329184"/>
          </a:xfrm>
          <a:prstGeom prst="roundRect">
            <a:avLst>
              <a:gd fmla="val 50000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37"/>
          <p:cNvSpPr/>
          <p:nvPr/>
        </p:nvSpPr>
        <p:spPr>
          <a:xfrm>
            <a:off x="539496" y="2368296"/>
            <a:ext cx="7406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490"/>
              <a:buFont typeface="Inter"/>
              <a:buNone/>
            </a:pPr>
            <a:r>
              <a:rPr b="1" i="0" lang="en-US" sz="149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0" name="Google Shape;1900;p37"/>
          <p:cNvSpPr/>
          <p:nvPr/>
        </p:nvSpPr>
        <p:spPr>
          <a:xfrm>
            <a:off x="1417320" y="2350008"/>
            <a:ext cx="777240" cy="329184"/>
          </a:xfrm>
          <a:prstGeom prst="roundRect">
            <a:avLst>
              <a:gd fmla="val 50000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37"/>
          <p:cNvSpPr/>
          <p:nvPr/>
        </p:nvSpPr>
        <p:spPr>
          <a:xfrm>
            <a:off x="1435608" y="2368296"/>
            <a:ext cx="7406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490"/>
              <a:buFont typeface="Inter"/>
              <a:buNone/>
            </a:pPr>
            <a:r>
              <a:rPr b="1" i="0" lang="en-US" sz="149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2" name="Google Shape;1902;p37"/>
          <p:cNvSpPr/>
          <p:nvPr/>
        </p:nvSpPr>
        <p:spPr>
          <a:xfrm>
            <a:off x="2404872" y="2350008"/>
            <a:ext cx="1673352" cy="329184"/>
          </a:xfrm>
          <a:prstGeom prst="roundRect">
            <a:avLst>
              <a:gd fmla="val 50000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37"/>
          <p:cNvSpPr/>
          <p:nvPr/>
        </p:nvSpPr>
        <p:spPr>
          <a:xfrm>
            <a:off x="2423160" y="2368296"/>
            <a:ext cx="16367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490"/>
              <a:buFont typeface="Inter"/>
              <a:buNone/>
            </a:pPr>
            <a:r>
              <a:rPr b="1" i="0" lang="en-US" sz="149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Resultado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4" name="Google Shape;1904;p37"/>
          <p:cNvSpPr/>
          <p:nvPr/>
        </p:nvSpPr>
        <p:spPr>
          <a:xfrm>
            <a:off x="521208" y="2715768"/>
            <a:ext cx="777240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37"/>
          <p:cNvSpPr/>
          <p:nvPr/>
        </p:nvSpPr>
        <p:spPr>
          <a:xfrm>
            <a:off x="539496" y="2734056"/>
            <a:ext cx="7406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Google Shape;1906;p37"/>
          <p:cNvSpPr/>
          <p:nvPr/>
        </p:nvSpPr>
        <p:spPr>
          <a:xfrm>
            <a:off x="1417320" y="2715768"/>
            <a:ext cx="777240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37"/>
          <p:cNvSpPr/>
          <p:nvPr/>
        </p:nvSpPr>
        <p:spPr>
          <a:xfrm>
            <a:off x="1435608" y="2734056"/>
            <a:ext cx="7406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Google Shape;1908;p37"/>
          <p:cNvSpPr/>
          <p:nvPr/>
        </p:nvSpPr>
        <p:spPr>
          <a:xfrm>
            <a:off x="2404872" y="2715768"/>
            <a:ext cx="1673352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37"/>
          <p:cNvSpPr/>
          <p:nvPr/>
        </p:nvSpPr>
        <p:spPr>
          <a:xfrm>
            <a:off x="2423160" y="2734056"/>
            <a:ext cx="16367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0" name="Google Shape;1910;p37"/>
          <p:cNvSpPr/>
          <p:nvPr/>
        </p:nvSpPr>
        <p:spPr>
          <a:xfrm>
            <a:off x="521208" y="3081528"/>
            <a:ext cx="777240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37"/>
          <p:cNvSpPr/>
          <p:nvPr/>
        </p:nvSpPr>
        <p:spPr>
          <a:xfrm>
            <a:off x="539496" y="3099816"/>
            <a:ext cx="7406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2" name="Google Shape;1912;p37"/>
          <p:cNvSpPr/>
          <p:nvPr/>
        </p:nvSpPr>
        <p:spPr>
          <a:xfrm>
            <a:off x="1417320" y="3081528"/>
            <a:ext cx="777240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37"/>
          <p:cNvSpPr/>
          <p:nvPr/>
        </p:nvSpPr>
        <p:spPr>
          <a:xfrm>
            <a:off x="1435608" y="3099816"/>
            <a:ext cx="7406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4" name="Google Shape;1914;p37"/>
          <p:cNvSpPr/>
          <p:nvPr/>
        </p:nvSpPr>
        <p:spPr>
          <a:xfrm>
            <a:off x="2404872" y="3081528"/>
            <a:ext cx="1673352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37"/>
          <p:cNvSpPr/>
          <p:nvPr/>
        </p:nvSpPr>
        <p:spPr>
          <a:xfrm>
            <a:off x="2423160" y="3099816"/>
            <a:ext cx="16367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6" name="Google Shape;1916;p37"/>
          <p:cNvSpPr/>
          <p:nvPr/>
        </p:nvSpPr>
        <p:spPr>
          <a:xfrm>
            <a:off x="521208" y="3447288"/>
            <a:ext cx="777240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37"/>
          <p:cNvSpPr/>
          <p:nvPr/>
        </p:nvSpPr>
        <p:spPr>
          <a:xfrm>
            <a:off x="539496" y="3465576"/>
            <a:ext cx="7406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8" name="Google Shape;1918;p37"/>
          <p:cNvSpPr/>
          <p:nvPr/>
        </p:nvSpPr>
        <p:spPr>
          <a:xfrm>
            <a:off x="1417320" y="3447288"/>
            <a:ext cx="777240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37"/>
          <p:cNvSpPr/>
          <p:nvPr/>
        </p:nvSpPr>
        <p:spPr>
          <a:xfrm>
            <a:off x="1435608" y="3465576"/>
            <a:ext cx="7406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0" name="Google Shape;1920;p37"/>
          <p:cNvSpPr/>
          <p:nvPr/>
        </p:nvSpPr>
        <p:spPr>
          <a:xfrm>
            <a:off x="2404872" y="3447288"/>
            <a:ext cx="1673352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37"/>
          <p:cNvSpPr/>
          <p:nvPr/>
        </p:nvSpPr>
        <p:spPr>
          <a:xfrm>
            <a:off x="2423160" y="3465576"/>
            <a:ext cx="16367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2" name="Google Shape;1922;p37"/>
          <p:cNvSpPr/>
          <p:nvPr/>
        </p:nvSpPr>
        <p:spPr>
          <a:xfrm>
            <a:off x="521208" y="3813048"/>
            <a:ext cx="777240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37"/>
          <p:cNvSpPr/>
          <p:nvPr/>
        </p:nvSpPr>
        <p:spPr>
          <a:xfrm>
            <a:off x="539496" y="3831336"/>
            <a:ext cx="7406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4" name="Google Shape;1924;p37"/>
          <p:cNvSpPr/>
          <p:nvPr/>
        </p:nvSpPr>
        <p:spPr>
          <a:xfrm>
            <a:off x="1417320" y="3813048"/>
            <a:ext cx="777240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37"/>
          <p:cNvSpPr/>
          <p:nvPr/>
        </p:nvSpPr>
        <p:spPr>
          <a:xfrm>
            <a:off x="1435608" y="3831336"/>
            <a:ext cx="740664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6" name="Google Shape;1926;p37"/>
          <p:cNvSpPr/>
          <p:nvPr/>
        </p:nvSpPr>
        <p:spPr>
          <a:xfrm>
            <a:off x="2404872" y="3813048"/>
            <a:ext cx="1673352" cy="329184"/>
          </a:xfrm>
          <a:prstGeom prst="roundRect">
            <a:avLst>
              <a:gd fmla="val 50000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37"/>
          <p:cNvSpPr/>
          <p:nvPr/>
        </p:nvSpPr>
        <p:spPr>
          <a:xfrm>
            <a:off x="2423160" y="3831336"/>
            <a:ext cx="1636776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490"/>
              <a:buFont typeface="Inter"/>
              <a:buNone/>
            </a:pPr>
            <a:r>
              <a:rPr b="0" i="0" lang="en-US" sz="149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49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8" name="Google Shape;1928;p37"/>
          <p:cNvSpPr/>
          <p:nvPr/>
        </p:nvSpPr>
        <p:spPr>
          <a:xfrm>
            <a:off x="4462275" y="1975100"/>
            <a:ext cx="7205400" cy="1755600"/>
          </a:xfrm>
          <a:prstGeom prst="roundRect">
            <a:avLst>
              <a:gd fmla="val 8333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37"/>
          <p:cNvSpPr/>
          <p:nvPr/>
        </p:nvSpPr>
        <p:spPr>
          <a:xfrm>
            <a:off x="4480560" y="1993392"/>
            <a:ext cx="7168896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37"/>
          <p:cNvSpPr/>
          <p:nvPr/>
        </p:nvSpPr>
        <p:spPr>
          <a:xfrm>
            <a:off x="4636008" y="2148840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37"/>
          <p:cNvSpPr/>
          <p:nvPr/>
        </p:nvSpPr>
        <p:spPr>
          <a:xfrm>
            <a:off x="4818888" y="2148840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37"/>
          <p:cNvSpPr/>
          <p:nvPr/>
        </p:nvSpPr>
        <p:spPr>
          <a:xfrm>
            <a:off x="5001768" y="2148840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37"/>
          <p:cNvSpPr/>
          <p:nvPr/>
        </p:nvSpPr>
        <p:spPr>
          <a:xfrm>
            <a:off x="5349240" y="2075688"/>
            <a:ext cx="6099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4" name="Google Shape;1934;p37"/>
          <p:cNvSpPr/>
          <p:nvPr/>
        </p:nvSpPr>
        <p:spPr>
          <a:xfrm>
            <a:off x="4727448" y="2587752"/>
            <a:ext cx="6702552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Mensagem:  1 0 1 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Chave:        1 1 0 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          </a:t>
            </a:r>
            <a:r>
              <a:rPr lang="en-US" sz="17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————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Resultado:   0 1 1 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5" name="Google Shape;1935;p37"/>
          <p:cNvSpPr/>
          <p:nvPr/>
        </p:nvSpPr>
        <p:spPr>
          <a:xfrm>
            <a:off x="4462225" y="3883927"/>
            <a:ext cx="7205400" cy="1755600"/>
          </a:xfrm>
          <a:prstGeom prst="roundRect">
            <a:avLst>
              <a:gd fmla="val 10588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37"/>
          <p:cNvSpPr/>
          <p:nvPr/>
        </p:nvSpPr>
        <p:spPr>
          <a:xfrm>
            <a:off x="4480523" y="3902201"/>
            <a:ext cx="71688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37"/>
          <p:cNvSpPr/>
          <p:nvPr/>
        </p:nvSpPr>
        <p:spPr>
          <a:xfrm>
            <a:off x="4635971" y="4057649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37"/>
          <p:cNvSpPr/>
          <p:nvPr/>
        </p:nvSpPr>
        <p:spPr>
          <a:xfrm>
            <a:off x="4818851" y="4057649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37"/>
          <p:cNvSpPr/>
          <p:nvPr/>
        </p:nvSpPr>
        <p:spPr>
          <a:xfrm>
            <a:off x="5001731" y="4057649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37"/>
          <p:cNvSpPr/>
          <p:nvPr/>
        </p:nvSpPr>
        <p:spPr>
          <a:xfrm>
            <a:off x="5349202" y="3984497"/>
            <a:ext cx="609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Aplicando novamente a mesma chave: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1" name="Google Shape;1941;p37"/>
          <p:cNvSpPr/>
          <p:nvPr/>
        </p:nvSpPr>
        <p:spPr>
          <a:xfrm>
            <a:off x="4727425" y="4493175"/>
            <a:ext cx="67026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3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Resultado:   0 1 1 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3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Chave:        1 1 0 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3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          </a:t>
            </a:r>
            <a:r>
              <a:rPr lang="en-US" sz="17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————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430"/>
              <a:buFont typeface="Verdana"/>
              <a:buNone/>
            </a:pPr>
            <a:r>
              <a:rPr b="0" i="0" lang="en-US" sz="17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Mensagem:  1 0 1 0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2" name="Google Shape;1942;p37"/>
          <p:cNvSpPr/>
          <p:nvPr/>
        </p:nvSpPr>
        <p:spPr>
          <a:xfrm>
            <a:off x="502920" y="5779008"/>
            <a:ext cx="11155680" cy="466344"/>
          </a:xfrm>
          <a:prstGeom prst="roundRect">
            <a:avLst>
              <a:gd fmla="val 35294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37"/>
          <p:cNvSpPr/>
          <p:nvPr/>
        </p:nvSpPr>
        <p:spPr>
          <a:xfrm>
            <a:off x="676656" y="5943600"/>
            <a:ext cx="50292" cy="13716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37"/>
          <p:cNvSpPr/>
          <p:nvPr/>
        </p:nvSpPr>
        <p:spPr>
          <a:xfrm>
            <a:off x="868680" y="5952744"/>
            <a:ext cx="1053388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230"/>
              <a:buFont typeface="Inter"/>
              <a:buNone/>
            </a:pPr>
            <a:r>
              <a:rPr b="1" i="0" lang="en-US" sz="123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Observação: Este é apenas um exemplo didático para compreender uma transformação reversível, não uma implementação segura de criptografia moderna.</a:t>
            </a:r>
            <a:endParaRPr b="0" i="0" sz="12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38"/>
          <p:cNvSpPr/>
          <p:nvPr/>
        </p:nvSpPr>
        <p:spPr>
          <a:xfrm>
            <a:off x="9665208" y="45720"/>
            <a:ext cx="2441400" cy="2441400"/>
          </a:xfrm>
          <a:prstGeom prst="ellipse">
            <a:avLst/>
          </a:prstGeom>
          <a:solidFill>
            <a:srgbClr val="291840">
              <a:alpha val="25880"/>
            </a:srgbClr>
          </a:solidFill>
          <a:ln cap="flat" cmpd="sng" w="12700">
            <a:solidFill>
              <a:srgbClr val="B784FF">
                <a:alpha val="141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38"/>
          <p:cNvSpPr/>
          <p:nvPr/>
        </p:nvSpPr>
        <p:spPr>
          <a:xfrm>
            <a:off x="9857232" y="210312"/>
            <a:ext cx="2030100" cy="2030100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B784FF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38"/>
          <p:cNvSpPr/>
          <p:nvPr/>
        </p:nvSpPr>
        <p:spPr>
          <a:xfrm>
            <a:off x="45720" y="5413248"/>
            <a:ext cx="1316700" cy="1316700"/>
          </a:xfrm>
          <a:prstGeom prst="ellipse">
            <a:avLst/>
          </a:prstGeom>
          <a:solidFill>
            <a:srgbClr val="201333">
              <a:alpha val="16860"/>
            </a:srgbClr>
          </a:solidFill>
          <a:ln cap="flat" cmpd="sng" w="12700">
            <a:solidFill>
              <a:srgbClr val="B784FF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38"/>
          <p:cNvSpPr/>
          <p:nvPr/>
        </p:nvSpPr>
        <p:spPr>
          <a:xfrm>
            <a:off x="10222992" y="5321808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38"/>
          <p:cNvSpPr/>
          <p:nvPr/>
        </p:nvSpPr>
        <p:spPr>
          <a:xfrm>
            <a:off x="10222992" y="5509260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38"/>
          <p:cNvSpPr/>
          <p:nvPr/>
        </p:nvSpPr>
        <p:spPr>
          <a:xfrm>
            <a:off x="10222992" y="5696712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38"/>
          <p:cNvSpPr/>
          <p:nvPr/>
        </p:nvSpPr>
        <p:spPr>
          <a:xfrm>
            <a:off x="10410444" y="5321808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38"/>
          <p:cNvSpPr/>
          <p:nvPr/>
        </p:nvSpPr>
        <p:spPr>
          <a:xfrm>
            <a:off x="10410444" y="5509260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38"/>
          <p:cNvSpPr/>
          <p:nvPr/>
        </p:nvSpPr>
        <p:spPr>
          <a:xfrm>
            <a:off x="10410444" y="5696712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38"/>
          <p:cNvSpPr/>
          <p:nvPr/>
        </p:nvSpPr>
        <p:spPr>
          <a:xfrm>
            <a:off x="10597896" y="5321808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38"/>
          <p:cNvSpPr/>
          <p:nvPr/>
        </p:nvSpPr>
        <p:spPr>
          <a:xfrm>
            <a:off x="10597896" y="5509260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38"/>
          <p:cNvSpPr/>
          <p:nvPr/>
        </p:nvSpPr>
        <p:spPr>
          <a:xfrm>
            <a:off x="10597896" y="5696712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38"/>
          <p:cNvSpPr/>
          <p:nvPr/>
        </p:nvSpPr>
        <p:spPr>
          <a:xfrm>
            <a:off x="10785348" y="5321808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38"/>
          <p:cNvSpPr/>
          <p:nvPr/>
        </p:nvSpPr>
        <p:spPr>
          <a:xfrm>
            <a:off x="10785348" y="5509260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38"/>
          <p:cNvSpPr/>
          <p:nvPr/>
        </p:nvSpPr>
        <p:spPr>
          <a:xfrm>
            <a:off x="10785348" y="5696712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38"/>
          <p:cNvSpPr/>
          <p:nvPr/>
        </p:nvSpPr>
        <p:spPr>
          <a:xfrm>
            <a:off x="10972800" y="5321808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38"/>
          <p:cNvSpPr/>
          <p:nvPr/>
        </p:nvSpPr>
        <p:spPr>
          <a:xfrm>
            <a:off x="10972800" y="5509260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38"/>
          <p:cNvSpPr/>
          <p:nvPr/>
        </p:nvSpPr>
        <p:spPr>
          <a:xfrm>
            <a:off x="10972800" y="5696712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38"/>
          <p:cNvSpPr/>
          <p:nvPr/>
        </p:nvSpPr>
        <p:spPr>
          <a:xfrm>
            <a:off x="11160252" y="5321808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38"/>
          <p:cNvSpPr/>
          <p:nvPr/>
        </p:nvSpPr>
        <p:spPr>
          <a:xfrm>
            <a:off x="11160252" y="5509260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38"/>
          <p:cNvSpPr/>
          <p:nvPr/>
        </p:nvSpPr>
        <p:spPr>
          <a:xfrm>
            <a:off x="11160252" y="5696712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38"/>
          <p:cNvSpPr/>
          <p:nvPr/>
        </p:nvSpPr>
        <p:spPr>
          <a:xfrm>
            <a:off x="11347704" y="5321808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38"/>
          <p:cNvSpPr/>
          <p:nvPr/>
        </p:nvSpPr>
        <p:spPr>
          <a:xfrm>
            <a:off x="11347704" y="5509260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38"/>
          <p:cNvSpPr/>
          <p:nvPr/>
        </p:nvSpPr>
        <p:spPr>
          <a:xfrm>
            <a:off x="11347704" y="5696712"/>
            <a:ext cx="21900" cy="21900"/>
          </a:xfrm>
          <a:prstGeom prst="ellipse">
            <a:avLst/>
          </a:prstGeom>
          <a:solidFill>
            <a:srgbClr val="B784FF">
              <a:alpha val="45100"/>
            </a:srgbClr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38"/>
          <p:cNvSpPr/>
          <p:nvPr/>
        </p:nvSpPr>
        <p:spPr>
          <a:xfrm>
            <a:off x="0" y="0"/>
            <a:ext cx="59400" cy="6858000"/>
          </a:xfrm>
          <a:prstGeom prst="rect">
            <a:avLst/>
          </a:prstGeom>
          <a:solidFill>
            <a:srgbClr val="B784FF"/>
          </a:solidFill>
          <a:ln cap="flat" cmpd="sng" w="12700">
            <a:solidFill>
              <a:srgbClr val="B784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38"/>
          <p:cNvSpPr/>
          <p:nvPr/>
        </p:nvSpPr>
        <p:spPr>
          <a:xfrm>
            <a:off x="493776" y="310896"/>
            <a:ext cx="2222100" cy="301800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38"/>
          <p:cNvSpPr/>
          <p:nvPr/>
        </p:nvSpPr>
        <p:spPr>
          <a:xfrm>
            <a:off x="603504" y="333756"/>
            <a:ext cx="202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CRIPTOGRAFIA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7" name="Google Shape;1977;p38"/>
          <p:cNvSpPr/>
          <p:nvPr/>
        </p:nvSpPr>
        <p:spPr>
          <a:xfrm>
            <a:off x="502920" y="6519672"/>
            <a:ext cx="466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8" name="Google Shape;1978;p38"/>
          <p:cNvSpPr/>
          <p:nvPr/>
        </p:nvSpPr>
        <p:spPr>
          <a:xfrm>
            <a:off x="10789920" y="6519672"/>
            <a:ext cx="877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32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79" name="Google Shape;1979;p38"/>
          <p:cNvCxnSpPr/>
          <p:nvPr/>
        </p:nvCxnSpPr>
        <p:spPr>
          <a:xfrm>
            <a:off x="502920" y="6419088"/>
            <a:ext cx="11183100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0" name="Google Shape;1980;p38"/>
          <p:cNvSpPr/>
          <p:nvPr/>
        </p:nvSpPr>
        <p:spPr>
          <a:xfrm>
            <a:off x="502920" y="768096"/>
            <a:ext cx="11091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Da mensagem ao texto cifrado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1" name="Google Shape;1981;p38"/>
          <p:cNvSpPr/>
          <p:nvPr/>
        </p:nvSpPr>
        <p:spPr>
          <a:xfrm>
            <a:off x="521208" y="1316736"/>
            <a:ext cx="1092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84FF"/>
              </a:buClr>
              <a:buSzPts val="1670"/>
              <a:buFont typeface="Inter"/>
              <a:buNone/>
            </a:pPr>
            <a:r>
              <a:rPr lang="en-US" sz="1670">
                <a:solidFill>
                  <a:srgbClr val="B784FF"/>
                </a:solidFill>
                <a:latin typeface="Inter"/>
                <a:ea typeface="Inter"/>
                <a:cs typeface="Inter"/>
                <a:sym typeface="Inter"/>
              </a:rPr>
              <a:t>Prática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82" name="Google Shape;1982;p38"/>
          <p:cNvCxnSpPr/>
          <p:nvPr/>
        </p:nvCxnSpPr>
        <p:spPr>
          <a:xfrm>
            <a:off x="512064" y="1792224"/>
            <a:ext cx="11146500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3" name="Google Shape;1983;p38"/>
          <p:cNvSpPr/>
          <p:nvPr/>
        </p:nvSpPr>
        <p:spPr>
          <a:xfrm>
            <a:off x="502920" y="1956816"/>
            <a:ext cx="5294400" cy="4261200"/>
          </a:xfrm>
          <a:prstGeom prst="roundRect">
            <a:avLst>
              <a:gd fmla="val 3863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38"/>
          <p:cNvSpPr/>
          <p:nvPr/>
        </p:nvSpPr>
        <p:spPr>
          <a:xfrm>
            <a:off x="521208" y="1975104"/>
            <a:ext cx="52578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38"/>
          <p:cNvSpPr/>
          <p:nvPr/>
        </p:nvSpPr>
        <p:spPr>
          <a:xfrm>
            <a:off x="676656" y="2130552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38"/>
          <p:cNvSpPr/>
          <p:nvPr/>
        </p:nvSpPr>
        <p:spPr>
          <a:xfrm>
            <a:off x="859536" y="2130552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38"/>
          <p:cNvSpPr/>
          <p:nvPr/>
        </p:nvSpPr>
        <p:spPr>
          <a:xfrm>
            <a:off x="1042416" y="2130552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38"/>
          <p:cNvSpPr/>
          <p:nvPr/>
        </p:nvSpPr>
        <p:spPr>
          <a:xfrm>
            <a:off x="1389888" y="2057400"/>
            <a:ext cx="418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Fluxo: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9" name="Google Shape;1989;p38"/>
          <p:cNvSpPr/>
          <p:nvPr/>
        </p:nvSpPr>
        <p:spPr>
          <a:xfrm>
            <a:off x="768096" y="2569464"/>
            <a:ext cx="4791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texto = (input("Mensagem ficticia (Enter = SEGREDO): ") or "SEGREDO").upper()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cifrado = cifra_cesar(texto, 3)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print("Texto original:", texto)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print("Texto cifrado (+3):", cifrado)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print("Texto decifrado (-3):", cifra_cesar(cifrado, -3))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try: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from cryptography.fernet import Fernet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except Exception: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print("Criptografia moderna extra indisponivel: biblioteca opcional nao instalada.")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else: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90" name="Google Shape;1990;p38"/>
          <p:cNvSpPr/>
          <p:nvPr/>
        </p:nvSpPr>
        <p:spPr>
          <a:xfrm>
            <a:off x="6153995" y="1975054"/>
            <a:ext cx="5294400" cy="4261200"/>
          </a:xfrm>
          <a:prstGeom prst="roundRect">
            <a:avLst>
              <a:gd fmla="val 3863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38"/>
          <p:cNvSpPr/>
          <p:nvPr/>
        </p:nvSpPr>
        <p:spPr>
          <a:xfrm>
            <a:off x="6172283" y="1993342"/>
            <a:ext cx="52578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38"/>
          <p:cNvSpPr/>
          <p:nvPr/>
        </p:nvSpPr>
        <p:spPr>
          <a:xfrm>
            <a:off x="6327731" y="2148790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38"/>
          <p:cNvSpPr/>
          <p:nvPr/>
        </p:nvSpPr>
        <p:spPr>
          <a:xfrm>
            <a:off x="6510611" y="2148790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38"/>
          <p:cNvSpPr/>
          <p:nvPr/>
        </p:nvSpPr>
        <p:spPr>
          <a:xfrm>
            <a:off x="6693491" y="2148790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38"/>
          <p:cNvSpPr/>
          <p:nvPr/>
        </p:nvSpPr>
        <p:spPr>
          <a:xfrm>
            <a:off x="7040963" y="2075638"/>
            <a:ext cx="418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Fluxo: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6" name="Google Shape;1996;p38"/>
          <p:cNvSpPr/>
          <p:nvPr/>
        </p:nvSpPr>
        <p:spPr>
          <a:xfrm>
            <a:off x="6419171" y="2587702"/>
            <a:ext cx="47916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else: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chave = Fernet.generate_key()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sistema = Fernet(chave)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token = sistema.encrypt(texto.encode("utf-8"))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print("\nEXTRA - Criptografia autenticada com Fernet:")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print("Texto cifrado (inicio):", token.decode("ascii")[:50] + "...")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print("Decifrado:", sistema.decrypt(token).decode("utf-8"))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None/>
            </a:pPr>
            <a:r>
              <a:rPr lang="en-US" sz="16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        print("Importante: proteger e guardar a chave de forma segura.")</a:t>
            </a:r>
            <a:endParaRPr sz="16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39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64E5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39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64E5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39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64E5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39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39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39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39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39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39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39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39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39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39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39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39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39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39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39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39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39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39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39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39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39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64E5DD">
              <a:alpha val="45098"/>
            </a:srgbClr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39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39"/>
          <p:cNvSpPr/>
          <p:nvPr/>
        </p:nvSpPr>
        <p:spPr>
          <a:xfrm>
            <a:off x="493776" y="310896"/>
            <a:ext cx="222199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39"/>
          <p:cNvSpPr/>
          <p:nvPr/>
        </p:nvSpPr>
        <p:spPr>
          <a:xfrm>
            <a:off x="603504" y="333756"/>
            <a:ext cx="2020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MISSÃO FINAL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9" name="Google Shape;2029;p39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0" name="Google Shape;2030;p39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40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31" name="Google Shape;2031;p39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2" name="Google Shape;2032;p39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Missão Final: </a:t>
            </a:r>
            <a:r>
              <a:rPr b="1" lang="en-US" sz="3200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Gerador de senhas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3" name="Google Shape;2033;p39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Agora vocês são a equipe de segurança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34" name="Google Shape;2034;p39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5" name="Google Shape;2035;p39"/>
          <p:cNvSpPr/>
          <p:nvPr/>
        </p:nvSpPr>
        <p:spPr>
          <a:xfrm>
            <a:off x="507495" y="1947672"/>
            <a:ext cx="11155800" cy="658500"/>
          </a:xfrm>
          <a:prstGeom prst="roundRect">
            <a:avLst>
              <a:gd fmla="val 25000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39"/>
          <p:cNvSpPr/>
          <p:nvPr/>
        </p:nvSpPr>
        <p:spPr>
          <a:xfrm>
            <a:off x="676656" y="2112264"/>
            <a:ext cx="50292" cy="329184"/>
          </a:xfrm>
          <a:prstGeom prst="rect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39"/>
          <p:cNvSpPr/>
          <p:nvPr/>
        </p:nvSpPr>
        <p:spPr>
          <a:xfrm>
            <a:off x="868675" y="2121397"/>
            <a:ext cx="10533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690"/>
              <a:buFont typeface="Inter"/>
              <a:buNone/>
            </a:pPr>
            <a:r>
              <a:rPr b="1" i="0" lang="en-US" sz="1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Cenário: </a:t>
            </a:r>
            <a:r>
              <a:rPr b="1" lang="en-US" sz="1200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Uma empresa deseja melhorar a segurança das contas de seus funcionários. Sua missão é desenvolver um aplicativo que gere senhas aleatórias e difíceis de adivinhar.</a:t>
            </a:r>
            <a:endParaRPr b="1" sz="1200">
              <a:solidFill>
                <a:srgbClr val="F8F5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690"/>
              <a:buFont typeface="Inter"/>
              <a:buNone/>
            </a:pPr>
            <a:r>
              <a:t/>
            </a:r>
            <a:endParaRPr b="1" sz="1200">
              <a:solidFill>
                <a:srgbClr val="F8F5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8" name="Google Shape;2038;p39"/>
          <p:cNvSpPr/>
          <p:nvPr/>
        </p:nvSpPr>
        <p:spPr>
          <a:xfrm>
            <a:off x="502920" y="2761488"/>
            <a:ext cx="3758184" cy="3392424"/>
          </a:xfrm>
          <a:prstGeom prst="roundRect">
            <a:avLst>
              <a:gd fmla="val 4852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39"/>
          <p:cNvSpPr/>
          <p:nvPr/>
        </p:nvSpPr>
        <p:spPr>
          <a:xfrm>
            <a:off x="521208" y="2779776"/>
            <a:ext cx="3721608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39"/>
          <p:cNvSpPr/>
          <p:nvPr/>
        </p:nvSpPr>
        <p:spPr>
          <a:xfrm>
            <a:off x="676656" y="2935224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39"/>
          <p:cNvSpPr/>
          <p:nvPr/>
        </p:nvSpPr>
        <p:spPr>
          <a:xfrm>
            <a:off x="859536" y="2935224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39"/>
          <p:cNvSpPr/>
          <p:nvPr/>
        </p:nvSpPr>
        <p:spPr>
          <a:xfrm>
            <a:off x="1042416" y="2935224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39"/>
          <p:cNvSpPr/>
          <p:nvPr/>
        </p:nvSpPr>
        <p:spPr>
          <a:xfrm>
            <a:off x="1389888" y="286207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O aplicativo deverá permitir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4" name="Google Shape;2044;p39"/>
          <p:cNvSpPr/>
          <p:nvPr/>
        </p:nvSpPr>
        <p:spPr>
          <a:xfrm>
            <a:off x="768096" y="3374136"/>
            <a:ext cx="3255264" cy="2642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Char char="●"/>
            </a:pPr>
            <a:r>
              <a:rPr lang="en-US" sz="17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Escolher o tamanho da senha (4 a 32 caracteres).</a:t>
            </a:r>
            <a:endParaRPr sz="17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Char char="●"/>
            </a:pPr>
            <a:r>
              <a:rPr lang="en-US" sz="17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Incluir números e símbolos.</a:t>
            </a:r>
            <a:endParaRPr sz="17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Char char="●"/>
            </a:pPr>
            <a:r>
              <a:rPr lang="en-US" sz="17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Gerar senhas aleatórias automaticamente.</a:t>
            </a:r>
            <a:endParaRPr sz="17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Char char="●"/>
            </a:pPr>
            <a:r>
              <a:rPr lang="en-US" sz="17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Copiar a senha gerada.</a:t>
            </a:r>
            <a:endParaRPr sz="17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00"/>
              <a:buFont typeface="Verdana"/>
              <a:buChar char="●"/>
            </a:pPr>
            <a:r>
              <a:rPr lang="en-US" sz="1700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Exibir uma classificação didática da senha.</a:t>
            </a:r>
            <a:endParaRPr sz="1700">
              <a:solidFill>
                <a:srgbClr val="64E5D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45" name="Google Shape;2045;p39"/>
          <p:cNvSpPr/>
          <p:nvPr/>
        </p:nvSpPr>
        <p:spPr>
          <a:xfrm>
            <a:off x="4425696" y="2761488"/>
            <a:ext cx="7242048" cy="1261872"/>
          </a:xfrm>
          <a:prstGeom prst="roundRect">
            <a:avLst>
              <a:gd fmla="val 1304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39"/>
          <p:cNvSpPr/>
          <p:nvPr/>
        </p:nvSpPr>
        <p:spPr>
          <a:xfrm>
            <a:off x="4443984" y="2916936"/>
            <a:ext cx="50292" cy="95097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39"/>
          <p:cNvSpPr/>
          <p:nvPr/>
        </p:nvSpPr>
        <p:spPr>
          <a:xfrm>
            <a:off x="4654296" y="2926080"/>
            <a:ext cx="67848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8" name="Google Shape;2048;p39"/>
          <p:cNvSpPr/>
          <p:nvPr/>
        </p:nvSpPr>
        <p:spPr>
          <a:xfrm>
            <a:off x="4654296" y="3355848"/>
            <a:ext cx="6784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77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Desenvolver um gerador de senhas com interface gráfica utilizando Python, aplicando os conceitos de segurança aprendidos durante a aula.</a:t>
            </a:r>
            <a:endParaRPr sz="1477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9" name="Google Shape;2049;p39"/>
          <p:cNvSpPr/>
          <p:nvPr/>
        </p:nvSpPr>
        <p:spPr>
          <a:xfrm>
            <a:off x="4425696" y="4160520"/>
            <a:ext cx="7242048" cy="1993392"/>
          </a:xfrm>
          <a:prstGeom prst="roundRect">
            <a:avLst>
              <a:gd fmla="val 8257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39"/>
          <p:cNvSpPr/>
          <p:nvPr/>
        </p:nvSpPr>
        <p:spPr>
          <a:xfrm>
            <a:off x="4443984" y="4315968"/>
            <a:ext cx="50292" cy="1682496"/>
          </a:xfrm>
          <a:prstGeom prst="roundRect">
            <a:avLst>
              <a:gd fmla="val 327273" name="adj"/>
            </a:avLst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39"/>
          <p:cNvSpPr/>
          <p:nvPr/>
        </p:nvSpPr>
        <p:spPr>
          <a:xfrm>
            <a:off x="4654296" y="4325112"/>
            <a:ext cx="67848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729"/>
              <a:buFont typeface="Inter"/>
              <a:buNone/>
            </a:pPr>
            <a:r>
              <a:rPr b="1" lang="en-US" sz="1730">
                <a:solidFill>
                  <a:srgbClr val="64E5DD"/>
                </a:solidFill>
                <a:latin typeface="Inter"/>
                <a:ea typeface="Inter"/>
                <a:cs typeface="Inter"/>
                <a:sym typeface="Inter"/>
              </a:rPr>
              <a:t>Conceitos que vamos aplicar: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2" name="Google Shape;2052;p39"/>
          <p:cNvSpPr/>
          <p:nvPr/>
        </p:nvSpPr>
        <p:spPr>
          <a:xfrm>
            <a:off x="4654296" y="4754880"/>
            <a:ext cx="6784848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00"/>
              <a:buFont typeface="Inter"/>
              <a:buChar char="●"/>
            </a:pPr>
            <a:r>
              <a:rPr lang="en-US" sz="15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Aleatoriedade: gerar caracteres utilizando a biblioteca secrets.</a:t>
            </a:r>
            <a:endParaRPr sz="150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00"/>
              <a:buFont typeface="Inter"/>
              <a:buChar char="●"/>
            </a:pPr>
            <a:r>
              <a:rPr lang="en-US" sz="15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Personalização: permitir escolher o tamanho e os tipos de caracteres.</a:t>
            </a:r>
            <a:endParaRPr sz="150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00"/>
              <a:buFont typeface="Inter"/>
              <a:buChar char="●"/>
            </a:pPr>
            <a:r>
              <a:rPr lang="en-US" sz="15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Interface gráfica: utilizar tkinter para interagir com o usuário.</a:t>
            </a:r>
            <a:endParaRPr sz="150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500"/>
              <a:buFont typeface="Inter"/>
              <a:buChar char="●"/>
            </a:pPr>
            <a:r>
              <a:rPr lang="en-US" sz="15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Avaliação: classificar as senhas conforme critérios definidos no programa.</a:t>
            </a:r>
            <a:endParaRPr sz="150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40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F18D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40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40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F18D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40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40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40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40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40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40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40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40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40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40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40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40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40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40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40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40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40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40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40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40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40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40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40"/>
          <p:cNvSpPr/>
          <p:nvPr/>
        </p:nvSpPr>
        <p:spPr>
          <a:xfrm>
            <a:off x="493776" y="310896"/>
            <a:ext cx="251917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40"/>
          <p:cNvSpPr/>
          <p:nvPr/>
        </p:nvSpPr>
        <p:spPr>
          <a:xfrm>
            <a:off x="603504" y="333756"/>
            <a:ext cx="23180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5" name="Google Shape;2085;p40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6" name="Google Shape;2086;p40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37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87" name="Google Shape;2087;p40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8" name="Google Shape;2088;p40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E se o alvo não for o computador?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9" name="Google Shape;2089;p40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Pessoas também fazem parte da segurança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90" name="Google Shape;2090;p40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1" name="Google Shape;2091;p40"/>
          <p:cNvSpPr/>
          <p:nvPr/>
        </p:nvSpPr>
        <p:spPr>
          <a:xfrm>
            <a:off x="502920" y="1965960"/>
            <a:ext cx="5504688" cy="1517904"/>
          </a:xfrm>
          <a:prstGeom prst="roundRect">
            <a:avLst>
              <a:gd fmla="val 1084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40"/>
          <p:cNvSpPr/>
          <p:nvPr/>
        </p:nvSpPr>
        <p:spPr>
          <a:xfrm>
            <a:off x="521208" y="2121408"/>
            <a:ext cx="50292" cy="1207008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40"/>
          <p:cNvSpPr/>
          <p:nvPr/>
        </p:nvSpPr>
        <p:spPr>
          <a:xfrm>
            <a:off x="731520" y="2130552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1: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4" name="Google Shape;2094;p40"/>
          <p:cNvSpPr/>
          <p:nvPr/>
        </p:nvSpPr>
        <p:spPr>
          <a:xfrm>
            <a:off x="731520" y="2560320"/>
            <a:ext cx="50474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Nem todo ataque depende de explorar uma falha de programação ou de um sistema.</a:t>
            </a:r>
            <a:endParaRPr b="0" i="0" sz="1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5" name="Google Shape;2095;p40"/>
          <p:cNvSpPr/>
          <p:nvPr/>
        </p:nvSpPr>
        <p:spPr>
          <a:xfrm>
            <a:off x="6172200" y="1965960"/>
            <a:ext cx="5504688" cy="1517904"/>
          </a:xfrm>
          <a:prstGeom prst="roundRect">
            <a:avLst>
              <a:gd fmla="val 10843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40"/>
          <p:cNvSpPr/>
          <p:nvPr/>
        </p:nvSpPr>
        <p:spPr>
          <a:xfrm>
            <a:off x="6190488" y="2121408"/>
            <a:ext cx="50292" cy="1207008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40"/>
          <p:cNvSpPr/>
          <p:nvPr/>
        </p:nvSpPr>
        <p:spPr>
          <a:xfrm>
            <a:off x="6400800" y="2130552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10"/>
              <a:buFont typeface="Inter"/>
              <a:buNone/>
            </a:pPr>
            <a:r>
              <a:rPr b="1" i="0" lang="en-US" sz="171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Tópico 2:</a:t>
            </a:r>
            <a:endParaRPr b="0" i="0" sz="171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8" name="Google Shape;2098;p40"/>
          <p:cNvSpPr/>
          <p:nvPr/>
        </p:nvSpPr>
        <p:spPr>
          <a:xfrm>
            <a:off x="6400800" y="2560320"/>
            <a:ext cx="504748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495"/>
              <a:buFont typeface="Inter"/>
              <a:buNone/>
            </a:pPr>
            <a:r>
              <a:rPr b="0" i="0" lang="en-US" sz="1495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atacante também pode tentar manipular uma pessoa para conseguir informações ou induzi-la a executar determinada ação.</a:t>
            </a:r>
            <a:endParaRPr b="0" i="0" sz="1495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9" name="Google Shape;2099;p40"/>
          <p:cNvSpPr/>
          <p:nvPr/>
        </p:nvSpPr>
        <p:spPr>
          <a:xfrm>
            <a:off x="502920" y="3685032"/>
            <a:ext cx="5623560" cy="2450592"/>
          </a:xfrm>
          <a:prstGeom prst="roundRect">
            <a:avLst>
              <a:gd fmla="val 671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40"/>
          <p:cNvSpPr/>
          <p:nvPr/>
        </p:nvSpPr>
        <p:spPr>
          <a:xfrm>
            <a:off x="521208" y="3840480"/>
            <a:ext cx="50292" cy="2139696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40"/>
          <p:cNvSpPr/>
          <p:nvPr/>
        </p:nvSpPr>
        <p:spPr>
          <a:xfrm>
            <a:off x="731520" y="3849624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Situações comuns: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2" name="Google Shape;2102;p40"/>
          <p:cNvSpPr/>
          <p:nvPr/>
        </p:nvSpPr>
        <p:spPr>
          <a:xfrm>
            <a:off x="731520" y="4279392"/>
            <a:ext cx="5166360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Criar sensação de urgência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Fingir ser alguém conhecido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Fazer ameaças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Oferecer prêmios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Pedir senhas ou códigos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Induzir o usuário a acessar um link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3" name="Google Shape;2103;p40"/>
          <p:cNvSpPr/>
          <p:nvPr/>
        </p:nvSpPr>
        <p:spPr>
          <a:xfrm>
            <a:off x="6291072" y="3685032"/>
            <a:ext cx="5376672" cy="2450592"/>
          </a:xfrm>
          <a:prstGeom prst="roundRect">
            <a:avLst>
              <a:gd fmla="val 6716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40"/>
          <p:cNvSpPr/>
          <p:nvPr/>
        </p:nvSpPr>
        <p:spPr>
          <a:xfrm>
            <a:off x="6309360" y="3840480"/>
            <a:ext cx="50292" cy="2139696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40"/>
          <p:cNvSpPr/>
          <p:nvPr/>
        </p:nvSpPr>
        <p:spPr>
          <a:xfrm>
            <a:off x="6519672" y="3849624"/>
            <a:ext cx="4919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Frase de destaque: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6" name="Google Shape;2106;p40"/>
          <p:cNvSpPr/>
          <p:nvPr/>
        </p:nvSpPr>
        <p:spPr>
          <a:xfrm>
            <a:off x="6519672" y="4279392"/>
            <a:ext cx="4919472" cy="1682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940"/>
              <a:buFont typeface="Inter"/>
              <a:buNone/>
            </a:pPr>
            <a:r>
              <a:rPr b="0" i="0" lang="en-US" sz="194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Um sistema pode estar tecnicamente protegido e ainda assim ser comprometido por decisões humanas.</a:t>
            </a:r>
            <a:endParaRPr b="0" i="0" sz="19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41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F18D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41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41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F18D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41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41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41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41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41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41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41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41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41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41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41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41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41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41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41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41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41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41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41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41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41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4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41"/>
          <p:cNvSpPr/>
          <p:nvPr/>
        </p:nvSpPr>
        <p:spPr>
          <a:xfrm>
            <a:off x="493776" y="310896"/>
            <a:ext cx="251917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41"/>
          <p:cNvSpPr/>
          <p:nvPr/>
        </p:nvSpPr>
        <p:spPr>
          <a:xfrm>
            <a:off x="603504" y="333756"/>
            <a:ext cx="23180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9" name="Google Shape;2139;p41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0" name="Google Shape;2140;p41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38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41" name="Google Shape;2141;p41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2" name="Google Shape;2142;p41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Phishing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3" name="Google Shape;2143;p41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Tentando enganar a vítima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44" name="Google Shape;2144;p41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5" name="Google Shape;2145;p41"/>
          <p:cNvSpPr/>
          <p:nvPr/>
        </p:nvSpPr>
        <p:spPr>
          <a:xfrm>
            <a:off x="502920" y="1956816"/>
            <a:ext cx="5522976" cy="356616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41"/>
          <p:cNvSpPr/>
          <p:nvPr/>
        </p:nvSpPr>
        <p:spPr>
          <a:xfrm>
            <a:off x="521208" y="1975104"/>
            <a:ext cx="5486400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41"/>
          <p:cNvSpPr/>
          <p:nvPr/>
        </p:nvSpPr>
        <p:spPr>
          <a:xfrm>
            <a:off x="676656" y="2130552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41"/>
          <p:cNvSpPr/>
          <p:nvPr/>
        </p:nvSpPr>
        <p:spPr>
          <a:xfrm>
            <a:off x="859536" y="2130552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41"/>
          <p:cNvSpPr/>
          <p:nvPr/>
        </p:nvSpPr>
        <p:spPr>
          <a:xfrm>
            <a:off x="1042416" y="2130552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41"/>
          <p:cNvSpPr/>
          <p:nvPr/>
        </p:nvSpPr>
        <p:spPr>
          <a:xfrm>
            <a:off x="1389888" y="2057400"/>
            <a:ext cx="44165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1" name="Google Shape;2151;p41"/>
          <p:cNvSpPr/>
          <p:nvPr/>
        </p:nvSpPr>
        <p:spPr>
          <a:xfrm>
            <a:off x="768096" y="2569464"/>
            <a:ext cx="5020056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b="0" i="0" lang="en-US" sz="1640" u="none" cap="none" strike="noStrike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ATENÇÃO!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Inter"/>
              <a:buNone/>
            </a:pPr>
            <a:r>
              <a:t/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b="0" i="0" lang="en-US" sz="1640" u="none" cap="none" strike="noStrike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Sua conta será bloqueada nas próximas horas.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Inter"/>
              <a:buNone/>
            </a:pPr>
            <a:r>
              <a:t/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b="0" i="0" lang="en-US" sz="1640" u="none" cap="none" strike="noStrike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Confirme imediatamente seus dados: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Inter"/>
              <a:buNone/>
            </a:pPr>
            <a:r>
              <a:t/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b="0" i="0" lang="en-US" sz="1640" u="none" cap="none" strike="noStrike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conta-segura-verificacao.xyz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2" name="Google Shape;2152;p41"/>
          <p:cNvSpPr/>
          <p:nvPr/>
        </p:nvSpPr>
        <p:spPr>
          <a:xfrm>
            <a:off x="6208776" y="1956816"/>
            <a:ext cx="5458968" cy="3566160"/>
          </a:xfrm>
          <a:prstGeom prst="roundRect">
            <a:avLst>
              <a:gd fmla="val 4615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41"/>
          <p:cNvSpPr/>
          <p:nvPr/>
        </p:nvSpPr>
        <p:spPr>
          <a:xfrm>
            <a:off x="6227064" y="2112264"/>
            <a:ext cx="50292" cy="3255264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41"/>
          <p:cNvSpPr/>
          <p:nvPr/>
        </p:nvSpPr>
        <p:spPr>
          <a:xfrm>
            <a:off x="6437376" y="2121408"/>
            <a:ext cx="5001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Possíveis sinais de alerta: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5" name="Google Shape;2155;p41"/>
          <p:cNvSpPr/>
          <p:nvPr/>
        </p:nvSpPr>
        <p:spPr>
          <a:xfrm>
            <a:off x="6437376" y="2551176"/>
            <a:ext cx="5001768" cy="2798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Urgência exagerada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Ameaças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Pedido inesperado de informações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Endereço estranho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Link diferente do serviço verdadeiro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20"/>
              <a:buFont typeface="Inter"/>
              <a:buNone/>
            </a:pPr>
            <a:r>
              <a:rPr b="0" i="0" lang="en-US" sz="1720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• Contexto inesperado</a:t>
            </a:r>
            <a:endParaRPr b="0" i="0" sz="172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6" name="Google Shape;2156;p41"/>
          <p:cNvSpPr/>
          <p:nvPr/>
        </p:nvSpPr>
        <p:spPr>
          <a:xfrm>
            <a:off x="502920" y="5623560"/>
            <a:ext cx="11155680" cy="621792"/>
          </a:xfrm>
          <a:prstGeom prst="roundRect">
            <a:avLst>
              <a:gd fmla="val 26471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41"/>
          <p:cNvSpPr/>
          <p:nvPr/>
        </p:nvSpPr>
        <p:spPr>
          <a:xfrm>
            <a:off x="676656" y="5788152"/>
            <a:ext cx="50292" cy="292608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41"/>
          <p:cNvSpPr/>
          <p:nvPr/>
        </p:nvSpPr>
        <p:spPr>
          <a:xfrm>
            <a:off x="868680" y="5797296"/>
            <a:ext cx="10533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79"/>
              <a:buFont typeface="Inter"/>
              <a:buNone/>
            </a:pPr>
            <a:r>
              <a:rPr b="1" i="0" lang="en-US" sz="178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Pergunta para a turma: O que nessa mensagem faria vocês desconfiarem?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42"/>
          <p:cNvSpPr/>
          <p:nvPr/>
        </p:nvSpPr>
        <p:spPr>
          <a:xfrm>
            <a:off x="9665208" y="45720"/>
            <a:ext cx="2441448" cy="2441448"/>
          </a:xfrm>
          <a:prstGeom prst="ellipse">
            <a:avLst/>
          </a:prstGeom>
          <a:solidFill>
            <a:srgbClr val="291840">
              <a:alpha val="25882"/>
            </a:srgbClr>
          </a:solidFill>
          <a:ln cap="flat" cmpd="sng" w="12700">
            <a:solidFill>
              <a:srgbClr val="F18DDD">
                <a:alpha val="1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42"/>
          <p:cNvSpPr/>
          <p:nvPr/>
        </p:nvSpPr>
        <p:spPr>
          <a:xfrm>
            <a:off x="9857232" y="210312"/>
            <a:ext cx="2029968" cy="2029968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5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42"/>
          <p:cNvSpPr/>
          <p:nvPr/>
        </p:nvSpPr>
        <p:spPr>
          <a:xfrm>
            <a:off x="45720" y="5413248"/>
            <a:ext cx="1316736" cy="1316736"/>
          </a:xfrm>
          <a:prstGeom prst="ellipse">
            <a:avLst/>
          </a:prstGeom>
          <a:solidFill>
            <a:srgbClr val="201333">
              <a:alpha val="16863"/>
            </a:srgbClr>
          </a:solidFill>
          <a:ln cap="flat" cmpd="sng" w="12700">
            <a:solidFill>
              <a:srgbClr val="F18DDD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42"/>
          <p:cNvSpPr/>
          <p:nvPr/>
        </p:nvSpPr>
        <p:spPr>
          <a:xfrm>
            <a:off x="1022299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42"/>
          <p:cNvSpPr/>
          <p:nvPr/>
        </p:nvSpPr>
        <p:spPr>
          <a:xfrm>
            <a:off x="1022299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42"/>
          <p:cNvSpPr/>
          <p:nvPr/>
        </p:nvSpPr>
        <p:spPr>
          <a:xfrm>
            <a:off x="1022299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42"/>
          <p:cNvSpPr/>
          <p:nvPr/>
        </p:nvSpPr>
        <p:spPr>
          <a:xfrm>
            <a:off x="1041044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42"/>
          <p:cNvSpPr/>
          <p:nvPr/>
        </p:nvSpPr>
        <p:spPr>
          <a:xfrm>
            <a:off x="1041044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42"/>
          <p:cNvSpPr/>
          <p:nvPr/>
        </p:nvSpPr>
        <p:spPr>
          <a:xfrm>
            <a:off x="1041044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42"/>
          <p:cNvSpPr/>
          <p:nvPr/>
        </p:nvSpPr>
        <p:spPr>
          <a:xfrm>
            <a:off x="10597896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42"/>
          <p:cNvSpPr/>
          <p:nvPr/>
        </p:nvSpPr>
        <p:spPr>
          <a:xfrm>
            <a:off x="10597896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42"/>
          <p:cNvSpPr/>
          <p:nvPr/>
        </p:nvSpPr>
        <p:spPr>
          <a:xfrm>
            <a:off x="10597896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42"/>
          <p:cNvSpPr/>
          <p:nvPr/>
        </p:nvSpPr>
        <p:spPr>
          <a:xfrm>
            <a:off x="10785348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42"/>
          <p:cNvSpPr/>
          <p:nvPr/>
        </p:nvSpPr>
        <p:spPr>
          <a:xfrm>
            <a:off x="10785348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42"/>
          <p:cNvSpPr/>
          <p:nvPr/>
        </p:nvSpPr>
        <p:spPr>
          <a:xfrm>
            <a:off x="10785348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42"/>
          <p:cNvSpPr/>
          <p:nvPr/>
        </p:nvSpPr>
        <p:spPr>
          <a:xfrm>
            <a:off x="10972800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42"/>
          <p:cNvSpPr/>
          <p:nvPr/>
        </p:nvSpPr>
        <p:spPr>
          <a:xfrm>
            <a:off x="10972800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42"/>
          <p:cNvSpPr/>
          <p:nvPr/>
        </p:nvSpPr>
        <p:spPr>
          <a:xfrm>
            <a:off x="10972800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42"/>
          <p:cNvSpPr/>
          <p:nvPr/>
        </p:nvSpPr>
        <p:spPr>
          <a:xfrm>
            <a:off x="11160252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42"/>
          <p:cNvSpPr/>
          <p:nvPr/>
        </p:nvSpPr>
        <p:spPr>
          <a:xfrm>
            <a:off x="11160252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42"/>
          <p:cNvSpPr/>
          <p:nvPr/>
        </p:nvSpPr>
        <p:spPr>
          <a:xfrm>
            <a:off x="11160252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42"/>
          <p:cNvSpPr/>
          <p:nvPr/>
        </p:nvSpPr>
        <p:spPr>
          <a:xfrm>
            <a:off x="11347704" y="5321808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42"/>
          <p:cNvSpPr/>
          <p:nvPr/>
        </p:nvSpPr>
        <p:spPr>
          <a:xfrm>
            <a:off x="11347704" y="5509260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42"/>
          <p:cNvSpPr/>
          <p:nvPr/>
        </p:nvSpPr>
        <p:spPr>
          <a:xfrm>
            <a:off x="11347704" y="5696712"/>
            <a:ext cx="21946" cy="21946"/>
          </a:xfrm>
          <a:prstGeom prst="ellipse">
            <a:avLst/>
          </a:prstGeom>
          <a:solidFill>
            <a:srgbClr val="F18DDD">
              <a:alpha val="45098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4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42"/>
          <p:cNvSpPr/>
          <p:nvPr/>
        </p:nvSpPr>
        <p:spPr>
          <a:xfrm>
            <a:off x="493776" y="310896"/>
            <a:ext cx="2519172" cy="301752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42"/>
          <p:cNvSpPr/>
          <p:nvPr/>
        </p:nvSpPr>
        <p:spPr>
          <a:xfrm>
            <a:off x="603504" y="333756"/>
            <a:ext cx="23180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1" name="Google Shape;2191;p42"/>
          <p:cNvSpPr/>
          <p:nvPr/>
        </p:nvSpPr>
        <p:spPr>
          <a:xfrm>
            <a:off x="502920" y="6519672"/>
            <a:ext cx="46634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2" name="Google Shape;2192;p42"/>
          <p:cNvSpPr/>
          <p:nvPr/>
        </p:nvSpPr>
        <p:spPr>
          <a:xfrm>
            <a:off x="10789920" y="6519672"/>
            <a:ext cx="87782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39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93" name="Google Shape;2193;p42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5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4" name="Google Shape;2194;p42"/>
          <p:cNvSpPr/>
          <p:nvPr/>
        </p:nvSpPr>
        <p:spPr>
          <a:xfrm>
            <a:off x="502920" y="768096"/>
            <a:ext cx="110916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Phishing ou Confiável?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5" name="Google Shape;2195;p42"/>
          <p:cNvSpPr/>
          <p:nvPr/>
        </p:nvSpPr>
        <p:spPr>
          <a:xfrm>
            <a:off x="521208" y="1316736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Analise antes de clicar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96" name="Google Shape;2196;p42"/>
          <p:cNvCxnSpPr/>
          <p:nvPr/>
        </p:nvCxnSpPr>
        <p:spPr>
          <a:xfrm>
            <a:off x="512064" y="1792224"/>
            <a:ext cx="11146536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7" name="Google Shape;2197;p42"/>
          <p:cNvSpPr/>
          <p:nvPr/>
        </p:nvSpPr>
        <p:spPr>
          <a:xfrm>
            <a:off x="502925" y="1975098"/>
            <a:ext cx="5532000" cy="2030100"/>
          </a:xfrm>
          <a:prstGeom prst="roundRect">
            <a:avLst>
              <a:gd fmla="val 11465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42"/>
          <p:cNvSpPr/>
          <p:nvPr/>
        </p:nvSpPr>
        <p:spPr>
          <a:xfrm>
            <a:off x="521225" y="2251725"/>
            <a:ext cx="50400" cy="1504200"/>
          </a:xfrm>
          <a:prstGeom prst="roundRect">
            <a:avLst>
              <a:gd fmla="val 50000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42"/>
          <p:cNvSpPr/>
          <p:nvPr/>
        </p:nvSpPr>
        <p:spPr>
          <a:xfrm>
            <a:off x="731533" y="2441459"/>
            <a:ext cx="5074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1"/>
              <a:buFont typeface="Inter"/>
              <a:buNone/>
            </a:pPr>
            <a:r>
              <a:rPr b="0" i="0" lang="en-US" sz="1641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Regras: </a:t>
            </a:r>
            <a:r>
              <a:rPr lang="en-US" sz="1641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As </a:t>
            </a:r>
            <a:r>
              <a:rPr b="0" i="0" lang="en-US" sz="1641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equipe </a:t>
            </a:r>
            <a:r>
              <a:rPr lang="en-US" sz="1641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receberam</a:t>
            </a:r>
            <a:r>
              <a:rPr lang="en-US" sz="1641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641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diferentes mensagens.</a:t>
            </a:r>
            <a:endParaRPr b="0" i="0" sz="1641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41"/>
              <a:buFont typeface="Inter"/>
              <a:buNone/>
            </a:pPr>
            <a:r>
              <a:t/>
            </a:r>
            <a:endParaRPr b="0" i="0" sz="1641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1"/>
              <a:buFont typeface="Inter"/>
              <a:buNone/>
            </a:pPr>
            <a:r>
              <a:rPr b="0" i="0" lang="en-US" sz="1641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Para cada mensagem, deverá decidir:</a:t>
            </a:r>
            <a:endParaRPr b="0" i="0" sz="1641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0" name="Google Shape;2200;p42"/>
          <p:cNvSpPr/>
          <p:nvPr/>
        </p:nvSpPr>
        <p:spPr>
          <a:xfrm>
            <a:off x="6199625" y="1975098"/>
            <a:ext cx="5468100" cy="2030100"/>
          </a:xfrm>
          <a:prstGeom prst="roundRect">
            <a:avLst>
              <a:gd fmla="val 1146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42"/>
          <p:cNvSpPr/>
          <p:nvPr/>
        </p:nvSpPr>
        <p:spPr>
          <a:xfrm>
            <a:off x="6217920" y="1993392"/>
            <a:ext cx="5431536" cy="438912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42"/>
          <p:cNvSpPr/>
          <p:nvPr/>
        </p:nvSpPr>
        <p:spPr>
          <a:xfrm>
            <a:off x="6373368" y="2148840"/>
            <a:ext cx="91440" cy="9144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42"/>
          <p:cNvSpPr/>
          <p:nvPr/>
        </p:nvSpPr>
        <p:spPr>
          <a:xfrm>
            <a:off x="6556248" y="2148840"/>
            <a:ext cx="91440" cy="9144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42"/>
          <p:cNvSpPr/>
          <p:nvPr/>
        </p:nvSpPr>
        <p:spPr>
          <a:xfrm>
            <a:off x="6739128" y="2148840"/>
            <a:ext cx="91440" cy="9144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42"/>
          <p:cNvSpPr/>
          <p:nvPr/>
        </p:nvSpPr>
        <p:spPr>
          <a:xfrm>
            <a:off x="7086600" y="2075688"/>
            <a:ext cx="43616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DECISÃO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6" name="Google Shape;2206;p42"/>
          <p:cNvSpPr/>
          <p:nvPr/>
        </p:nvSpPr>
        <p:spPr>
          <a:xfrm>
            <a:off x="6464800" y="2587750"/>
            <a:ext cx="49653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b="0" i="0" lang="en-US" sz="16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🟢 Parece confiável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b="0" i="0" lang="en-US" sz="16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ou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800"/>
              <a:buFont typeface="Verdana"/>
              <a:buNone/>
            </a:pPr>
            <a:r>
              <a:rPr b="0" i="0" lang="en-US" sz="160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🔴 Parece suspeita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7" name="Google Shape;2207;p42"/>
          <p:cNvSpPr/>
          <p:nvPr/>
        </p:nvSpPr>
        <p:spPr>
          <a:xfrm>
            <a:off x="502933" y="4197111"/>
            <a:ext cx="5532000" cy="1627500"/>
          </a:xfrm>
          <a:prstGeom prst="roundRect">
            <a:avLst>
              <a:gd fmla="val 10112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42"/>
          <p:cNvSpPr/>
          <p:nvPr/>
        </p:nvSpPr>
        <p:spPr>
          <a:xfrm>
            <a:off x="521221" y="4215399"/>
            <a:ext cx="5495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42"/>
          <p:cNvSpPr/>
          <p:nvPr/>
        </p:nvSpPr>
        <p:spPr>
          <a:xfrm>
            <a:off x="676669" y="4370847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42"/>
          <p:cNvSpPr/>
          <p:nvPr/>
        </p:nvSpPr>
        <p:spPr>
          <a:xfrm>
            <a:off x="859549" y="4370847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42"/>
          <p:cNvSpPr/>
          <p:nvPr/>
        </p:nvSpPr>
        <p:spPr>
          <a:xfrm>
            <a:off x="1042429" y="4370847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42"/>
          <p:cNvSpPr/>
          <p:nvPr/>
        </p:nvSpPr>
        <p:spPr>
          <a:xfrm>
            <a:off x="1389900" y="4297695"/>
            <a:ext cx="442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Pontuação: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3" name="Google Shape;2213;p42"/>
          <p:cNvSpPr/>
          <p:nvPr/>
        </p:nvSpPr>
        <p:spPr>
          <a:xfrm>
            <a:off x="768108" y="4809759"/>
            <a:ext cx="50292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40"/>
              <a:buFont typeface="Verdana"/>
              <a:buNone/>
            </a:pPr>
            <a:r>
              <a:rPr b="0" i="0" lang="en-US" sz="164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Classificação correta → 1 ponto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Inter"/>
              <a:buNone/>
            </a:pPr>
            <a:r>
              <a:t/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E5DD"/>
              </a:buClr>
              <a:buSzPts val="1640"/>
              <a:buFont typeface="Verdana"/>
              <a:buNone/>
            </a:pPr>
            <a:r>
              <a:rPr b="0" i="0" lang="en-US" sz="1640" u="none" cap="none" strike="noStrike">
                <a:solidFill>
                  <a:srgbClr val="64E5DD"/>
                </a:solidFill>
                <a:latin typeface="Verdana"/>
                <a:ea typeface="Verdana"/>
                <a:cs typeface="Verdana"/>
                <a:sym typeface="Verdana"/>
              </a:rPr>
              <a:t>Justificativa correta → 1 ponto</a:t>
            </a:r>
            <a:endParaRPr b="0" i="0" sz="164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4" name="Google Shape;2214;p42"/>
          <p:cNvSpPr/>
          <p:nvPr/>
        </p:nvSpPr>
        <p:spPr>
          <a:xfrm>
            <a:off x="6199645" y="4197111"/>
            <a:ext cx="5468100" cy="1627500"/>
          </a:xfrm>
          <a:prstGeom prst="roundRect">
            <a:avLst>
              <a:gd fmla="val 10112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42"/>
          <p:cNvSpPr/>
          <p:nvPr/>
        </p:nvSpPr>
        <p:spPr>
          <a:xfrm>
            <a:off x="6217933" y="4352559"/>
            <a:ext cx="50400" cy="1316700"/>
          </a:xfrm>
          <a:prstGeom prst="roundRect">
            <a:avLst>
              <a:gd fmla="val 327273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42"/>
          <p:cNvSpPr/>
          <p:nvPr/>
        </p:nvSpPr>
        <p:spPr>
          <a:xfrm>
            <a:off x="6428245" y="4361703"/>
            <a:ext cx="5010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29"/>
              <a:buFont typeface="Inter"/>
              <a:buNone/>
            </a:pPr>
            <a:r>
              <a:rPr b="1" i="0" lang="en-US" sz="173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endParaRPr b="0" i="0" sz="17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7" name="Google Shape;2217;p42"/>
          <p:cNvSpPr/>
          <p:nvPr/>
        </p:nvSpPr>
        <p:spPr>
          <a:xfrm>
            <a:off x="6428245" y="4791471"/>
            <a:ext cx="50109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14"/>
              <a:buFont typeface="Inter"/>
              <a:buNone/>
            </a:pPr>
            <a:r>
              <a:rPr b="0" i="0" lang="en-US" sz="1714" u="none" cap="none" strike="noStrike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Não basta decidir. A equipe precisa explicar quais elementos da mensagem influenciaram a decisão.</a:t>
            </a:r>
            <a:endParaRPr b="0" i="0" sz="1714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43"/>
          <p:cNvSpPr/>
          <p:nvPr/>
        </p:nvSpPr>
        <p:spPr>
          <a:xfrm>
            <a:off x="9665208" y="45720"/>
            <a:ext cx="2441400" cy="2441400"/>
          </a:xfrm>
          <a:prstGeom prst="ellipse">
            <a:avLst/>
          </a:prstGeom>
          <a:solidFill>
            <a:srgbClr val="291840">
              <a:alpha val="25880"/>
            </a:srgbClr>
          </a:solidFill>
          <a:ln cap="flat" cmpd="sng" w="12700">
            <a:solidFill>
              <a:srgbClr val="F18DDD">
                <a:alpha val="141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43"/>
          <p:cNvSpPr/>
          <p:nvPr/>
        </p:nvSpPr>
        <p:spPr>
          <a:xfrm>
            <a:off x="9857232" y="210312"/>
            <a:ext cx="2030100" cy="2030100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43"/>
          <p:cNvSpPr/>
          <p:nvPr/>
        </p:nvSpPr>
        <p:spPr>
          <a:xfrm>
            <a:off x="45720" y="5413248"/>
            <a:ext cx="1316700" cy="1316700"/>
          </a:xfrm>
          <a:prstGeom prst="ellipse">
            <a:avLst/>
          </a:prstGeom>
          <a:solidFill>
            <a:srgbClr val="201333">
              <a:alpha val="16860"/>
            </a:srgbClr>
          </a:solidFill>
          <a:ln cap="flat" cmpd="sng" w="12700">
            <a:solidFill>
              <a:srgbClr val="F18DDD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43"/>
          <p:cNvSpPr/>
          <p:nvPr/>
        </p:nvSpPr>
        <p:spPr>
          <a:xfrm>
            <a:off x="1022299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43"/>
          <p:cNvSpPr/>
          <p:nvPr/>
        </p:nvSpPr>
        <p:spPr>
          <a:xfrm>
            <a:off x="1022299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43"/>
          <p:cNvSpPr/>
          <p:nvPr/>
        </p:nvSpPr>
        <p:spPr>
          <a:xfrm>
            <a:off x="1022299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43"/>
          <p:cNvSpPr/>
          <p:nvPr/>
        </p:nvSpPr>
        <p:spPr>
          <a:xfrm>
            <a:off x="1041044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43"/>
          <p:cNvSpPr/>
          <p:nvPr/>
        </p:nvSpPr>
        <p:spPr>
          <a:xfrm>
            <a:off x="1041044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43"/>
          <p:cNvSpPr/>
          <p:nvPr/>
        </p:nvSpPr>
        <p:spPr>
          <a:xfrm>
            <a:off x="1041044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43"/>
          <p:cNvSpPr/>
          <p:nvPr/>
        </p:nvSpPr>
        <p:spPr>
          <a:xfrm>
            <a:off x="10597896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43"/>
          <p:cNvSpPr/>
          <p:nvPr/>
        </p:nvSpPr>
        <p:spPr>
          <a:xfrm>
            <a:off x="10597896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43"/>
          <p:cNvSpPr/>
          <p:nvPr/>
        </p:nvSpPr>
        <p:spPr>
          <a:xfrm>
            <a:off x="10597896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43"/>
          <p:cNvSpPr/>
          <p:nvPr/>
        </p:nvSpPr>
        <p:spPr>
          <a:xfrm>
            <a:off x="10785348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43"/>
          <p:cNvSpPr/>
          <p:nvPr/>
        </p:nvSpPr>
        <p:spPr>
          <a:xfrm>
            <a:off x="10785348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43"/>
          <p:cNvSpPr/>
          <p:nvPr/>
        </p:nvSpPr>
        <p:spPr>
          <a:xfrm>
            <a:off x="10785348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43"/>
          <p:cNvSpPr/>
          <p:nvPr/>
        </p:nvSpPr>
        <p:spPr>
          <a:xfrm>
            <a:off x="10972800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43"/>
          <p:cNvSpPr/>
          <p:nvPr/>
        </p:nvSpPr>
        <p:spPr>
          <a:xfrm>
            <a:off x="10972800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p43"/>
          <p:cNvSpPr/>
          <p:nvPr/>
        </p:nvSpPr>
        <p:spPr>
          <a:xfrm>
            <a:off x="10972800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43"/>
          <p:cNvSpPr/>
          <p:nvPr/>
        </p:nvSpPr>
        <p:spPr>
          <a:xfrm>
            <a:off x="1116025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p43"/>
          <p:cNvSpPr/>
          <p:nvPr/>
        </p:nvSpPr>
        <p:spPr>
          <a:xfrm>
            <a:off x="1116025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43"/>
          <p:cNvSpPr/>
          <p:nvPr/>
        </p:nvSpPr>
        <p:spPr>
          <a:xfrm>
            <a:off x="1116025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43"/>
          <p:cNvSpPr/>
          <p:nvPr/>
        </p:nvSpPr>
        <p:spPr>
          <a:xfrm>
            <a:off x="1134770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43"/>
          <p:cNvSpPr/>
          <p:nvPr/>
        </p:nvSpPr>
        <p:spPr>
          <a:xfrm>
            <a:off x="1134770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43"/>
          <p:cNvSpPr/>
          <p:nvPr/>
        </p:nvSpPr>
        <p:spPr>
          <a:xfrm>
            <a:off x="1134770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43"/>
          <p:cNvSpPr/>
          <p:nvPr/>
        </p:nvSpPr>
        <p:spPr>
          <a:xfrm>
            <a:off x="0" y="0"/>
            <a:ext cx="59400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43"/>
          <p:cNvSpPr/>
          <p:nvPr/>
        </p:nvSpPr>
        <p:spPr>
          <a:xfrm>
            <a:off x="493776" y="310896"/>
            <a:ext cx="2519100" cy="301800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43"/>
          <p:cNvSpPr/>
          <p:nvPr/>
        </p:nvSpPr>
        <p:spPr>
          <a:xfrm>
            <a:off x="603504" y="333756"/>
            <a:ext cx="231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0" name="Google Shape;2250;p43"/>
          <p:cNvSpPr/>
          <p:nvPr/>
        </p:nvSpPr>
        <p:spPr>
          <a:xfrm>
            <a:off x="502920" y="6519672"/>
            <a:ext cx="466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1" name="Google Shape;2251;p43"/>
          <p:cNvSpPr/>
          <p:nvPr/>
        </p:nvSpPr>
        <p:spPr>
          <a:xfrm>
            <a:off x="10789920" y="6519672"/>
            <a:ext cx="877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38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52" name="Google Shape;2252;p43"/>
          <p:cNvCxnSpPr/>
          <p:nvPr/>
        </p:nvCxnSpPr>
        <p:spPr>
          <a:xfrm>
            <a:off x="502920" y="6419088"/>
            <a:ext cx="11183100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3" name="Google Shape;2253;p43"/>
          <p:cNvSpPr/>
          <p:nvPr/>
        </p:nvSpPr>
        <p:spPr>
          <a:xfrm>
            <a:off x="502920" y="768096"/>
            <a:ext cx="11091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Phishing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4" name="Google Shape;2254;p43"/>
          <p:cNvSpPr/>
          <p:nvPr/>
        </p:nvSpPr>
        <p:spPr>
          <a:xfrm>
            <a:off x="521208" y="1316736"/>
            <a:ext cx="1092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Tentando enganar a vítima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55" name="Google Shape;2255;p43"/>
          <p:cNvCxnSpPr/>
          <p:nvPr/>
        </p:nvCxnSpPr>
        <p:spPr>
          <a:xfrm>
            <a:off x="512064" y="1792224"/>
            <a:ext cx="11146500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6" name="Google Shape;2256;p43"/>
          <p:cNvSpPr/>
          <p:nvPr/>
        </p:nvSpPr>
        <p:spPr>
          <a:xfrm>
            <a:off x="502920" y="1956816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43"/>
          <p:cNvSpPr/>
          <p:nvPr/>
        </p:nvSpPr>
        <p:spPr>
          <a:xfrm>
            <a:off x="521208" y="1975104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43"/>
          <p:cNvSpPr/>
          <p:nvPr/>
        </p:nvSpPr>
        <p:spPr>
          <a:xfrm>
            <a:off x="676656" y="2130552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43"/>
          <p:cNvSpPr/>
          <p:nvPr/>
        </p:nvSpPr>
        <p:spPr>
          <a:xfrm>
            <a:off x="859536" y="2130552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43"/>
          <p:cNvSpPr/>
          <p:nvPr/>
        </p:nvSpPr>
        <p:spPr>
          <a:xfrm>
            <a:off x="1042416" y="2130552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43"/>
          <p:cNvSpPr/>
          <p:nvPr/>
        </p:nvSpPr>
        <p:spPr>
          <a:xfrm>
            <a:off x="1389888" y="2057400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2" name="Google Shape;2262;p43"/>
          <p:cNvSpPr/>
          <p:nvPr/>
        </p:nvSpPr>
        <p:spPr>
          <a:xfrm>
            <a:off x="768096" y="2569464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1 — Instagram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"AVISO URGENTE! 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Sua conta do Instagram será desativada em 30 minutos devido a uma atividade suspeita. Para evitar o bloqueio, confirme sua identidade em: instagram-seguranca.example"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63" name="Google Shape;2263;p43"/>
          <p:cNvSpPr/>
          <p:nvPr/>
        </p:nvSpPr>
        <p:spPr>
          <a:xfrm>
            <a:off x="502920" y="5623560"/>
            <a:ext cx="11155800" cy="621900"/>
          </a:xfrm>
          <a:prstGeom prst="roundRect">
            <a:avLst>
              <a:gd fmla="val 26471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43"/>
          <p:cNvSpPr/>
          <p:nvPr/>
        </p:nvSpPr>
        <p:spPr>
          <a:xfrm>
            <a:off x="676656" y="5788152"/>
            <a:ext cx="50400" cy="2925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43"/>
          <p:cNvSpPr/>
          <p:nvPr/>
        </p:nvSpPr>
        <p:spPr>
          <a:xfrm>
            <a:off x="868680" y="5797296"/>
            <a:ext cx="1053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79"/>
              <a:buFont typeface="Inter"/>
              <a:buNone/>
            </a:pPr>
            <a:r>
              <a:rPr b="1" lang="en-US" sz="1780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que nessa mensagem faria vocês desconfiarem?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6" name="Google Shape;2266;p43"/>
          <p:cNvSpPr/>
          <p:nvPr/>
        </p:nvSpPr>
        <p:spPr>
          <a:xfrm>
            <a:off x="6135570" y="1961404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43"/>
          <p:cNvSpPr/>
          <p:nvPr/>
        </p:nvSpPr>
        <p:spPr>
          <a:xfrm>
            <a:off x="6153858" y="1979692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43"/>
          <p:cNvSpPr/>
          <p:nvPr/>
        </p:nvSpPr>
        <p:spPr>
          <a:xfrm>
            <a:off x="6309306" y="2135140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43"/>
          <p:cNvSpPr/>
          <p:nvPr/>
        </p:nvSpPr>
        <p:spPr>
          <a:xfrm>
            <a:off x="6492186" y="2135140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43"/>
          <p:cNvSpPr/>
          <p:nvPr/>
        </p:nvSpPr>
        <p:spPr>
          <a:xfrm>
            <a:off x="6675066" y="2135140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43"/>
          <p:cNvSpPr/>
          <p:nvPr/>
        </p:nvSpPr>
        <p:spPr>
          <a:xfrm>
            <a:off x="7022538" y="2061988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2" name="Google Shape;2272;p43"/>
          <p:cNvSpPr/>
          <p:nvPr/>
        </p:nvSpPr>
        <p:spPr>
          <a:xfrm>
            <a:off x="6400746" y="2574052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2 — Escola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"Olá, alunos! O calendário das avaliações foi atualizado. As novas datas estão disponíveis na seção 'Avisos' do aplicativo oficial da escola."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*Recebida dentro do aplicativo oficial da escola.*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44"/>
          <p:cNvSpPr/>
          <p:nvPr/>
        </p:nvSpPr>
        <p:spPr>
          <a:xfrm>
            <a:off x="9665208" y="45720"/>
            <a:ext cx="2441400" cy="2441400"/>
          </a:xfrm>
          <a:prstGeom prst="ellipse">
            <a:avLst/>
          </a:prstGeom>
          <a:solidFill>
            <a:srgbClr val="291840">
              <a:alpha val="25880"/>
            </a:srgbClr>
          </a:solidFill>
          <a:ln cap="flat" cmpd="sng" w="12700">
            <a:solidFill>
              <a:srgbClr val="F18DDD">
                <a:alpha val="141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44"/>
          <p:cNvSpPr/>
          <p:nvPr/>
        </p:nvSpPr>
        <p:spPr>
          <a:xfrm>
            <a:off x="9857232" y="210312"/>
            <a:ext cx="2030100" cy="2030100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44"/>
          <p:cNvSpPr/>
          <p:nvPr/>
        </p:nvSpPr>
        <p:spPr>
          <a:xfrm>
            <a:off x="45720" y="5413248"/>
            <a:ext cx="1316700" cy="1316700"/>
          </a:xfrm>
          <a:prstGeom prst="ellipse">
            <a:avLst/>
          </a:prstGeom>
          <a:solidFill>
            <a:srgbClr val="201333">
              <a:alpha val="16860"/>
            </a:srgbClr>
          </a:solidFill>
          <a:ln cap="flat" cmpd="sng" w="12700">
            <a:solidFill>
              <a:srgbClr val="F18DDD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44"/>
          <p:cNvSpPr/>
          <p:nvPr/>
        </p:nvSpPr>
        <p:spPr>
          <a:xfrm>
            <a:off x="1022299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44"/>
          <p:cNvSpPr/>
          <p:nvPr/>
        </p:nvSpPr>
        <p:spPr>
          <a:xfrm>
            <a:off x="1022299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44"/>
          <p:cNvSpPr/>
          <p:nvPr/>
        </p:nvSpPr>
        <p:spPr>
          <a:xfrm>
            <a:off x="1022299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44"/>
          <p:cNvSpPr/>
          <p:nvPr/>
        </p:nvSpPr>
        <p:spPr>
          <a:xfrm>
            <a:off x="1041044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44"/>
          <p:cNvSpPr/>
          <p:nvPr/>
        </p:nvSpPr>
        <p:spPr>
          <a:xfrm>
            <a:off x="1041044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44"/>
          <p:cNvSpPr/>
          <p:nvPr/>
        </p:nvSpPr>
        <p:spPr>
          <a:xfrm>
            <a:off x="1041044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44"/>
          <p:cNvSpPr/>
          <p:nvPr/>
        </p:nvSpPr>
        <p:spPr>
          <a:xfrm>
            <a:off x="10597896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44"/>
          <p:cNvSpPr/>
          <p:nvPr/>
        </p:nvSpPr>
        <p:spPr>
          <a:xfrm>
            <a:off x="10597896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44"/>
          <p:cNvSpPr/>
          <p:nvPr/>
        </p:nvSpPr>
        <p:spPr>
          <a:xfrm>
            <a:off x="10597896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44"/>
          <p:cNvSpPr/>
          <p:nvPr/>
        </p:nvSpPr>
        <p:spPr>
          <a:xfrm>
            <a:off x="10785348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44"/>
          <p:cNvSpPr/>
          <p:nvPr/>
        </p:nvSpPr>
        <p:spPr>
          <a:xfrm>
            <a:off x="10785348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44"/>
          <p:cNvSpPr/>
          <p:nvPr/>
        </p:nvSpPr>
        <p:spPr>
          <a:xfrm>
            <a:off x="10785348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44"/>
          <p:cNvSpPr/>
          <p:nvPr/>
        </p:nvSpPr>
        <p:spPr>
          <a:xfrm>
            <a:off x="10972800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44"/>
          <p:cNvSpPr/>
          <p:nvPr/>
        </p:nvSpPr>
        <p:spPr>
          <a:xfrm>
            <a:off x="10972800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44"/>
          <p:cNvSpPr/>
          <p:nvPr/>
        </p:nvSpPr>
        <p:spPr>
          <a:xfrm>
            <a:off x="10972800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44"/>
          <p:cNvSpPr/>
          <p:nvPr/>
        </p:nvSpPr>
        <p:spPr>
          <a:xfrm>
            <a:off x="1116025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44"/>
          <p:cNvSpPr/>
          <p:nvPr/>
        </p:nvSpPr>
        <p:spPr>
          <a:xfrm>
            <a:off x="1116025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44"/>
          <p:cNvSpPr/>
          <p:nvPr/>
        </p:nvSpPr>
        <p:spPr>
          <a:xfrm>
            <a:off x="1116025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44"/>
          <p:cNvSpPr/>
          <p:nvPr/>
        </p:nvSpPr>
        <p:spPr>
          <a:xfrm>
            <a:off x="1134770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44"/>
          <p:cNvSpPr/>
          <p:nvPr/>
        </p:nvSpPr>
        <p:spPr>
          <a:xfrm>
            <a:off x="1134770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44"/>
          <p:cNvSpPr/>
          <p:nvPr/>
        </p:nvSpPr>
        <p:spPr>
          <a:xfrm>
            <a:off x="1134770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44"/>
          <p:cNvSpPr/>
          <p:nvPr/>
        </p:nvSpPr>
        <p:spPr>
          <a:xfrm>
            <a:off x="0" y="0"/>
            <a:ext cx="59400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44"/>
          <p:cNvSpPr/>
          <p:nvPr/>
        </p:nvSpPr>
        <p:spPr>
          <a:xfrm>
            <a:off x="493776" y="310896"/>
            <a:ext cx="2519100" cy="301800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44"/>
          <p:cNvSpPr/>
          <p:nvPr/>
        </p:nvSpPr>
        <p:spPr>
          <a:xfrm>
            <a:off x="603504" y="333756"/>
            <a:ext cx="231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5" name="Google Shape;2305;p44"/>
          <p:cNvSpPr/>
          <p:nvPr/>
        </p:nvSpPr>
        <p:spPr>
          <a:xfrm>
            <a:off x="502920" y="6519672"/>
            <a:ext cx="466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6" name="Google Shape;2306;p44"/>
          <p:cNvSpPr/>
          <p:nvPr/>
        </p:nvSpPr>
        <p:spPr>
          <a:xfrm>
            <a:off x="10789920" y="6519672"/>
            <a:ext cx="877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38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07" name="Google Shape;2307;p44"/>
          <p:cNvCxnSpPr/>
          <p:nvPr/>
        </p:nvCxnSpPr>
        <p:spPr>
          <a:xfrm>
            <a:off x="502920" y="6419088"/>
            <a:ext cx="11183100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8" name="Google Shape;2308;p44"/>
          <p:cNvSpPr/>
          <p:nvPr/>
        </p:nvSpPr>
        <p:spPr>
          <a:xfrm>
            <a:off x="502920" y="768096"/>
            <a:ext cx="11091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Phishing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9" name="Google Shape;2309;p44"/>
          <p:cNvSpPr/>
          <p:nvPr/>
        </p:nvSpPr>
        <p:spPr>
          <a:xfrm>
            <a:off x="521208" y="1316736"/>
            <a:ext cx="1092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Tentando enganar a vítima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10" name="Google Shape;2310;p44"/>
          <p:cNvCxnSpPr/>
          <p:nvPr/>
        </p:nvCxnSpPr>
        <p:spPr>
          <a:xfrm>
            <a:off x="512064" y="1792224"/>
            <a:ext cx="11146500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1" name="Google Shape;2311;p44"/>
          <p:cNvSpPr/>
          <p:nvPr/>
        </p:nvSpPr>
        <p:spPr>
          <a:xfrm>
            <a:off x="502920" y="1956816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44"/>
          <p:cNvSpPr/>
          <p:nvPr/>
        </p:nvSpPr>
        <p:spPr>
          <a:xfrm>
            <a:off x="521208" y="1975104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44"/>
          <p:cNvSpPr/>
          <p:nvPr/>
        </p:nvSpPr>
        <p:spPr>
          <a:xfrm>
            <a:off x="676656" y="2130552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44"/>
          <p:cNvSpPr/>
          <p:nvPr/>
        </p:nvSpPr>
        <p:spPr>
          <a:xfrm>
            <a:off x="859536" y="2130552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44"/>
          <p:cNvSpPr/>
          <p:nvPr/>
        </p:nvSpPr>
        <p:spPr>
          <a:xfrm>
            <a:off x="1042416" y="2130552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44"/>
          <p:cNvSpPr/>
          <p:nvPr/>
        </p:nvSpPr>
        <p:spPr>
          <a:xfrm>
            <a:off x="1389888" y="2057400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7" name="Google Shape;2317;p44"/>
          <p:cNvSpPr/>
          <p:nvPr/>
        </p:nvSpPr>
        <p:spPr>
          <a:xfrm>
            <a:off x="768096" y="2569464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3 — WhatsApp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"Oi, filho! Meu celular quebrou e estou usando esse número novo. Preciso pagar uma conta urgente, consegue me fazer um PIX de R$ 150? Depois te devolvo. Não consigo atender ligação agora."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18" name="Google Shape;2318;p44"/>
          <p:cNvSpPr/>
          <p:nvPr/>
        </p:nvSpPr>
        <p:spPr>
          <a:xfrm>
            <a:off x="502920" y="5623560"/>
            <a:ext cx="11155800" cy="621900"/>
          </a:xfrm>
          <a:prstGeom prst="roundRect">
            <a:avLst>
              <a:gd fmla="val 26471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44"/>
          <p:cNvSpPr/>
          <p:nvPr/>
        </p:nvSpPr>
        <p:spPr>
          <a:xfrm>
            <a:off x="676656" y="5788152"/>
            <a:ext cx="50400" cy="2925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44"/>
          <p:cNvSpPr/>
          <p:nvPr/>
        </p:nvSpPr>
        <p:spPr>
          <a:xfrm>
            <a:off x="868680" y="5797296"/>
            <a:ext cx="1053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79"/>
              <a:buFont typeface="Inter"/>
              <a:buNone/>
            </a:pPr>
            <a:r>
              <a:rPr b="1" lang="en-US" sz="1780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que nessa mensagem faria vocês desconfiarem?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1" name="Google Shape;2321;p44"/>
          <p:cNvSpPr/>
          <p:nvPr/>
        </p:nvSpPr>
        <p:spPr>
          <a:xfrm>
            <a:off x="6135570" y="1961404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44"/>
          <p:cNvSpPr/>
          <p:nvPr/>
        </p:nvSpPr>
        <p:spPr>
          <a:xfrm>
            <a:off x="6153858" y="1979692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44"/>
          <p:cNvSpPr/>
          <p:nvPr/>
        </p:nvSpPr>
        <p:spPr>
          <a:xfrm>
            <a:off x="6309306" y="2135140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44"/>
          <p:cNvSpPr/>
          <p:nvPr/>
        </p:nvSpPr>
        <p:spPr>
          <a:xfrm>
            <a:off x="6492186" y="2135140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44"/>
          <p:cNvSpPr/>
          <p:nvPr/>
        </p:nvSpPr>
        <p:spPr>
          <a:xfrm>
            <a:off x="6675066" y="2135140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44"/>
          <p:cNvSpPr/>
          <p:nvPr/>
        </p:nvSpPr>
        <p:spPr>
          <a:xfrm>
            <a:off x="7022538" y="2061988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7" name="Google Shape;2327;p44"/>
          <p:cNvSpPr/>
          <p:nvPr/>
        </p:nvSpPr>
        <p:spPr>
          <a:xfrm>
            <a:off x="6400746" y="2574052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4 — Jogo online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"PARABÉNS! Você foi selecionado para receber 5.000 moedas grátis no seu jogo favorito! Acesse nosso site, entre com sua conta e resgate o prêmio antes que expire."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45"/>
          <p:cNvSpPr/>
          <p:nvPr/>
        </p:nvSpPr>
        <p:spPr>
          <a:xfrm>
            <a:off x="9665208" y="45720"/>
            <a:ext cx="2441400" cy="2441400"/>
          </a:xfrm>
          <a:prstGeom prst="ellipse">
            <a:avLst/>
          </a:prstGeom>
          <a:solidFill>
            <a:srgbClr val="291840">
              <a:alpha val="25880"/>
            </a:srgbClr>
          </a:solidFill>
          <a:ln cap="flat" cmpd="sng" w="12700">
            <a:solidFill>
              <a:srgbClr val="F18DDD">
                <a:alpha val="141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45"/>
          <p:cNvSpPr/>
          <p:nvPr/>
        </p:nvSpPr>
        <p:spPr>
          <a:xfrm>
            <a:off x="9857232" y="210312"/>
            <a:ext cx="2030100" cy="2030100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45"/>
          <p:cNvSpPr/>
          <p:nvPr/>
        </p:nvSpPr>
        <p:spPr>
          <a:xfrm>
            <a:off x="45720" y="5413248"/>
            <a:ext cx="1316700" cy="1316700"/>
          </a:xfrm>
          <a:prstGeom prst="ellipse">
            <a:avLst/>
          </a:prstGeom>
          <a:solidFill>
            <a:srgbClr val="201333">
              <a:alpha val="16860"/>
            </a:srgbClr>
          </a:solidFill>
          <a:ln cap="flat" cmpd="sng" w="12700">
            <a:solidFill>
              <a:srgbClr val="F18DDD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45"/>
          <p:cNvSpPr/>
          <p:nvPr/>
        </p:nvSpPr>
        <p:spPr>
          <a:xfrm>
            <a:off x="1022299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45"/>
          <p:cNvSpPr/>
          <p:nvPr/>
        </p:nvSpPr>
        <p:spPr>
          <a:xfrm>
            <a:off x="1022299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45"/>
          <p:cNvSpPr/>
          <p:nvPr/>
        </p:nvSpPr>
        <p:spPr>
          <a:xfrm>
            <a:off x="1022299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45"/>
          <p:cNvSpPr/>
          <p:nvPr/>
        </p:nvSpPr>
        <p:spPr>
          <a:xfrm>
            <a:off x="1041044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45"/>
          <p:cNvSpPr/>
          <p:nvPr/>
        </p:nvSpPr>
        <p:spPr>
          <a:xfrm>
            <a:off x="1041044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45"/>
          <p:cNvSpPr/>
          <p:nvPr/>
        </p:nvSpPr>
        <p:spPr>
          <a:xfrm>
            <a:off x="1041044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45"/>
          <p:cNvSpPr/>
          <p:nvPr/>
        </p:nvSpPr>
        <p:spPr>
          <a:xfrm>
            <a:off x="10597896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45"/>
          <p:cNvSpPr/>
          <p:nvPr/>
        </p:nvSpPr>
        <p:spPr>
          <a:xfrm>
            <a:off x="10597896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45"/>
          <p:cNvSpPr/>
          <p:nvPr/>
        </p:nvSpPr>
        <p:spPr>
          <a:xfrm>
            <a:off x="10597896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45"/>
          <p:cNvSpPr/>
          <p:nvPr/>
        </p:nvSpPr>
        <p:spPr>
          <a:xfrm>
            <a:off x="10785348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45"/>
          <p:cNvSpPr/>
          <p:nvPr/>
        </p:nvSpPr>
        <p:spPr>
          <a:xfrm>
            <a:off x="10785348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7" name="Google Shape;2347;p45"/>
          <p:cNvSpPr/>
          <p:nvPr/>
        </p:nvSpPr>
        <p:spPr>
          <a:xfrm>
            <a:off x="10785348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45"/>
          <p:cNvSpPr/>
          <p:nvPr/>
        </p:nvSpPr>
        <p:spPr>
          <a:xfrm>
            <a:off x="10972800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45"/>
          <p:cNvSpPr/>
          <p:nvPr/>
        </p:nvSpPr>
        <p:spPr>
          <a:xfrm>
            <a:off x="10972800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0" name="Google Shape;2350;p45"/>
          <p:cNvSpPr/>
          <p:nvPr/>
        </p:nvSpPr>
        <p:spPr>
          <a:xfrm>
            <a:off x="10972800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45"/>
          <p:cNvSpPr/>
          <p:nvPr/>
        </p:nvSpPr>
        <p:spPr>
          <a:xfrm>
            <a:off x="1116025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45"/>
          <p:cNvSpPr/>
          <p:nvPr/>
        </p:nvSpPr>
        <p:spPr>
          <a:xfrm>
            <a:off x="1116025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45"/>
          <p:cNvSpPr/>
          <p:nvPr/>
        </p:nvSpPr>
        <p:spPr>
          <a:xfrm>
            <a:off x="1116025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45"/>
          <p:cNvSpPr/>
          <p:nvPr/>
        </p:nvSpPr>
        <p:spPr>
          <a:xfrm>
            <a:off x="1134770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5" name="Google Shape;2355;p45"/>
          <p:cNvSpPr/>
          <p:nvPr/>
        </p:nvSpPr>
        <p:spPr>
          <a:xfrm>
            <a:off x="1134770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45"/>
          <p:cNvSpPr/>
          <p:nvPr/>
        </p:nvSpPr>
        <p:spPr>
          <a:xfrm>
            <a:off x="1134770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45"/>
          <p:cNvSpPr/>
          <p:nvPr/>
        </p:nvSpPr>
        <p:spPr>
          <a:xfrm>
            <a:off x="0" y="0"/>
            <a:ext cx="59400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45"/>
          <p:cNvSpPr/>
          <p:nvPr/>
        </p:nvSpPr>
        <p:spPr>
          <a:xfrm>
            <a:off x="493776" y="310896"/>
            <a:ext cx="2519100" cy="301800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9" name="Google Shape;2359;p45"/>
          <p:cNvSpPr/>
          <p:nvPr/>
        </p:nvSpPr>
        <p:spPr>
          <a:xfrm>
            <a:off x="603504" y="333756"/>
            <a:ext cx="231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0" name="Google Shape;2360;p45"/>
          <p:cNvSpPr/>
          <p:nvPr/>
        </p:nvSpPr>
        <p:spPr>
          <a:xfrm>
            <a:off x="502920" y="6519672"/>
            <a:ext cx="466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1" name="Google Shape;2361;p45"/>
          <p:cNvSpPr/>
          <p:nvPr/>
        </p:nvSpPr>
        <p:spPr>
          <a:xfrm>
            <a:off x="10789920" y="6519672"/>
            <a:ext cx="877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38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62" name="Google Shape;2362;p45"/>
          <p:cNvCxnSpPr/>
          <p:nvPr/>
        </p:nvCxnSpPr>
        <p:spPr>
          <a:xfrm>
            <a:off x="502920" y="6419088"/>
            <a:ext cx="11183100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3" name="Google Shape;2363;p45"/>
          <p:cNvSpPr/>
          <p:nvPr/>
        </p:nvSpPr>
        <p:spPr>
          <a:xfrm>
            <a:off x="502920" y="768096"/>
            <a:ext cx="11091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Phishing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4" name="Google Shape;2364;p45"/>
          <p:cNvSpPr/>
          <p:nvPr/>
        </p:nvSpPr>
        <p:spPr>
          <a:xfrm>
            <a:off x="521208" y="1316736"/>
            <a:ext cx="1092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Tentando enganar a vítima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65" name="Google Shape;2365;p45"/>
          <p:cNvCxnSpPr/>
          <p:nvPr/>
        </p:nvCxnSpPr>
        <p:spPr>
          <a:xfrm>
            <a:off x="512064" y="1792224"/>
            <a:ext cx="11146500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6" name="Google Shape;2366;p45"/>
          <p:cNvSpPr/>
          <p:nvPr/>
        </p:nvSpPr>
        <p:spPr>
          <a:xfrm>
            <a:off x="502920" y="1956816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45"/>
          <p:cNvSpPr/>
          <p:nvPr/>
        </p:nvSpPr>
        <p:spPr>
          <a:xfrm>
            <a:off x="521208" y="1975104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45"/>
          <p:cNvSpPr/>
          <p:nvPr/>
        </p:nvSpPr>
        <p:spPr>
          <a:xfrm>
            <a:off x="676656" y="2130552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45"/>
          <p:cNvSpPr/>
          <p:nvPr/>
        </p:nvSpPr>
        <p:spPr>
          <a:xfrm>
            <a:off x="859536" y="2130552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45"/>
          <p:cNvSpPr/>
          <p:nvPr/>
        </p:nvSpPr>
        <p:spPr>
          <a:xfrm>
            <a:off x="1042416" y="2130552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45"/>
          <p:cNvSpPr/>
          <p:nvPr/>
        </p:nvSpPr>
        <p:spPr>
          <a:xfrm>
            <a:off x="1389888" y="2057400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2" name="Google Shape;2372;p45"/>
          <p:cNvSpPr/>
          <p:nvPr/>
        </p:nvSpPr>
        <p:spPr>
          <a:xfrm>
            <a:off x="768096" y="2569464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5 — Professor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"Pessoal, a atividade de amanhã foi adiada para sexta-feira. Atualizei a data no calendário da turma. Qualquer dúvida, conversem comigo na aula."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*Publicada pelo professor no ambiente virtual oficial da escola.*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73" name="Google Shape;2373;p45"/>
          <p:cNvSpPr/>
          <p:nvPr/>
        </p:nvSpPr>
        <p:spPr>
          <a:xfrm>
            <a:off x="502920" y="5623560"/>
            <a:ext cx="11155800" cy="621900"/>
          </a:xfrm>
          <a:prstGeom prst="roundRect">
            <a:avLst>
              <a:gd fmla="val 26471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45"/>
          <p:cNvSpPr/>
          <p:nvPr/>
        </p:nvSpPr>
        <p:spPr>
          <a:xfrm>
            <a:off x="676656" y="5788152"/>
            <a:ext cx="50400" cy="2925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45"/>
          <p:cNvSpPr/>
          <p:nvPr/>
        </p:nvSpPr>
        <p:spPr>
          <a:xfrm>
            <a:off x="868680" y="5797296"/>
            <a:ext cx="1053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79"/>
              <a:buFont typeface="Inter"/>
              <a:buNone/>
            </a:pPr>
            <a:r>
              <a:rPr b="1" lang="en-US" sz="1780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que nessa mensagem faria vocês desconfiarem?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6" name="Google Shape;2376;p45"/>
          <p:cNvSpPr/>
          <p:nvPr/>
        </p:nvSpPr>
        <p:spPr>
          <a:xfrm>
            <a:off x="6135570" y="1961404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45"/>
          <p:cNvSpPr/>
          <p:nvPr/>
        </p:nvSpPr>
        <p:spPr>
          <a:xfrm>
            <a:off x="6153858" y="1979692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45"/>
          <p:cNvSpPr/>
          <p:nvPr/>
        </p:nvSpPr>
        <p:spPr>
          <a:xfrm>
            <a:off x="6309306" y="2135140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45"/>
          <p:cNvSpPr/>
          <p:nvPr/>
        </p:nvSpPr>
        <p:spPr>
          <a:xfrm>
            <a:off x="6492186" y="2135140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45"/>
          <p:cNvSpPr/>
          <p:nvPr/>
        </p:nvSpPr>
        <p:spPr>
          <a:xfrm>
            <a:off x="6675066" y="2135140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1" name="Google Shape;2381;p45"/>
          <p:cNvSpPr/>
          <p:nvPr/>
        </p:nvSpPr>
        <p:spPr>
          <a:xfrm>
            <a:off x="7022538" y="2061988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2" name="Google Shape;2382;p45"/>
          <p:cNvSpPr/>
          <p:nvPr/>
        </p:nvSpPr>
        <p:spPr>
          <a:xfrm>
            <a:off x="6400746" y="2574052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6 — Entrega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"Sua encomenda foi retida por uma taxa de entrega pendente de R$ 7,90. Pague imediatamente pelo link abaixo para evitar a devolução do produto."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*Recebida por SMS de um número desconhecido.*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46"/>
          <p:cNvSpPr/>
          <p:nvPr/>
        </p:nvSpPr>
        <p:spPr>
          <a:xfrm>
            <a:off x="9665208" y="45720"/>
            <a:ext cx="2441400" cy="2441400"/>
          </a:xfrm>
          <a:prstGeom prst="ellipse">
            <a:avLst/>
          </a:prstGeom>
          <a:solidFill>
            <a:srgbClr val="291840">
              <a:alpha val="25880"/>
            </a:srgbClr>
          </a:solidFill>
          <a:ln cap="flat" cmpd="sng" w="12700">
            <a:solidFill>
              <a:srgbClr val="F18DDD">
                <a:alpha val="141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46"/>
          <p:cNvSpPr/>
          <p:nvPr/>
        </p:nvSpPr>
        <p:spPr>
          <a:xfrm>
            <a:off x="9857232" y="210312"/>
            <a:ext cx="2030100" cy="2030100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46"/>
          <p:cNvSpPr/>
          <p:nvPr/>
        </p:nvSpPr>
        <p:spPr>
          <a:xfrm>
            <a:off x="45720" y="5413248"/>
            <a:ext cx="1316700" cy="1316700"/>
          </a:xfrm>
          <a:prstGeom prst="ellipse">
            <a:avLst/>
          </a:prstGeom>
          <a:solidFill>
            <a:srgbClr val="201333">
              <a:alpha val="16860"/>
            </a:srgbClr>
          </a:solidFill>
          <a:ln cap="flat" cmpd="sng" w="12700">
            <a:solidFill>
              <a:srgbClr val="F18DDD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46"/>
          <p:cNvSpPr/>
          <p:nvPr/>
        </p:nvSpPr>
        <p:spPr>
          <a:xfrm>
            <a:off x="1022299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46"/>
          <p:cNvSpPr/>
          <p:nvPr/>
        </p:nvSpPr>
        <p:spPr>
          <a:xfrm>
            <a:off x="1022299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46"/>
          <p:cNvSpPr/>
          <p:nvPr/>
        </p:nvSpPr>
        <p:spPr>
          <a:xfrm>
            <a:off x="1022299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46"/>
          <p:cNvSpPr/>
          <p:nvPr/>
        </p:nvSpPr>
        <p:spPr>
          <a:xfrm>
            <a:off x="1041044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46"/>
          <p:cNvSpPr/>
          <p:nvPr/>
        </p:nvSpPr>
        <p:spPr>
          <a:xfrm>
            <a:off x="1041044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46"/>
          <p:cNvSpPr/>
          <p:nvPr/>
        </p:nvSpPr>
        <p:spPr>
          <a:xfrm>
            <a:off x="1041044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46"/>
          <p:cNvSpPr/>
          <p:nvPr/>
        </p:nvSpPr>
        <p:spPr>
          <a:xfrm>
            <a:off x="10597896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46"/>
          <p:cNvSpPr/>
          <p:nvPr/>
        </p:nvSpPr>
        <p:spPr>
          <a:xfrm>
            <a:off x="10597896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46"/>
          <p:cNvSpPr/>
          <p:nvPr/>
        </p:nvSpPr>
        <p:spPr>
          <a:xfrm>
            <a:off x="10597896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46"/>
          <p:cNvSpPr/>
          <p:nvPr/>
        </p:nvSpPr>
        <p:spPr>
          <a:xfrm>
            <a:off x="10785348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46"/>
          <p:cNvSpPr/>
          <p:nvPr/>
        </p:nvSpPr>
        <p:spPr>
          <a:xfrm>
            <a:off x="10785348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46"/>
          <p:cNvSpPr/>
          <p:nvPr/>
        </p:nvSpPr>
        <p:spPr>
          <a:xfrm>
            <a:off x="10785348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46"/>
          <p:cNvSpPr/>
          <p:nvPr/>
        </p:nvSpPr>
        <p:spPr>
          <a:xfrm>
            <a:off x="10972800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46"/>
          <p:cNvSpPr/>
          <p:nvPr/>
        </p:nvSpPr>
        <p:spPr>
          <a:xfrm>
            <a:off x="10972800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46"/>
          <p:cNvSpPr/>
          <p:nvPr/>
        </p:nvSpPr>
        <p:spPr>
          <a:xfrm>
            <a:off x="10972800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46"/>
          <p:cNvSpPr/>
          <p:nvPr/>
        </p:nvSpPr>
        <p:spPr>
          <a:xfrm>
            <a:off x="1116025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46"/>
          <p:cNvSpPr/>
          <p:nvPr/>
        </p:nvSpPr>
        <p:spPr>
          <a:xfrm>
            <a:off x="1116025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46"/>
          <p:cNvSpPr/>
          <p:nvPr/>
        </p:nvSpPr>
        <p:spPr>
          <a:xfrm>
            <a:off x="1116025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46"/>
          <p:cNvSpPr/>
          <p:nvPr/>
        </p:nvSpPr>
        <p:spPr>
          <a:xfrm>
            <a:off x="1134770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46"/>
          <p:cNvSpPr/>
          <p:nvPr/>
        </p:nvSpPr>
        <p:spPr>
          <a:xfrm>
            <a:off x="1134770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46"/>
          <p:cNvSpPr/>
          <p:nvPr/>
        </p:nvSpPr>
        <p:spPr>
          <a:xfrm>
            <a:off x="1134770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2" name="Google Shape;2412;p46"/>
          <p:cNvSpPr/>
          <p:nvPr/>
        </p:nvSpPr>
        <p:spPr>
          <a:xfrm>
            <a:off x="0" y="0"/>
            <a:ext cx="59400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46"/>
          <p:cNvSpPr/>
          <p:nvPr/>
        </p:nvSpPr>
        <p:spPr>
          <a:xfrm>
            <a:off x="493776" y="310896"/>
            <a:ext cx="2519100" cy="301800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46"/>
          <p:cNvSpPr/>
          <p:nvPr/>
        </p:nvSpPr>
        <p:spPr>
          <a:xfrm>
            <a:off x="603504" y="333756"/>
            <a:ext cx="231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5" name="Google Shape;2415;p46"/>
          <p:cNvSpPr/>
          <p:nvPr/>
        </p:nvSpPr>
        <p:spPr>
          <a:xfrm>
            <a:off x="502920" y="6519672"/>
            <a:ext cx="466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6" name="Google Shape;2416;p46"/>
          <p:cNvSpPr/>
          <p:nvPr/>
        </p:nvSpPr>
        <p:spPr>
          <a:xfrm>
            <a:off x="10789920" y="6519672"/>
            <a:ext cx="877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38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17" name="Google Shape;2417;p46"/>
          <p:cNvCxnSpPr/>
          <p:nvPr/>
        </p:nvCxnSpPr>
        <p:spPr>
          <a:xfrm>
            <a:off x="502920" y="6419088"/>
            <a:ext cx="11183100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8" name="Google Shape;2418;p46"/>
          <p:cNvSpPr/>
          <p:nvPr/>
        </p:nvSpPr>
        <p:spPr>
          <a:xfrm>
            <a:off x="502920" y="768096"/>
            <a:ext cx="11091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Phishing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9" name="Google Shape;2419;p46"/>
          <p:cNvSpPr/>
          <p:nvPr/>
        </p:nvSpPr>
        <p:spPr>
          <a:xfrm>
            <a:off x="521208" y="1316736"/>
            <a:ext cx="1092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Tentando enganar a vítima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20" name="Google Shape;2420;p46"/>
          <p:cNvCxnSpPr/>
          <p:nvPr/>
        </p:nvCxnSpPr>
        <p:spPr>
          <a:xfrm>
            <a:off x="512064" y="1792224"/>
            <a:ext cx="11146500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1" name="Google Shape;2421;p46"/>
          <p:cNvSpPr/>
          <p:nvPr/>
        </p:nvSpPr>
        <p:spPr>
          <a:xfrm>
            <a:off x="502920" y="1956816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46"/>
          <p:cNvSpPr/>
          <p:nvPr/>
        </p:nvSpPr>
        <p:spPr>
          <a:xfrm>
            <a:off x="521208" y="1975104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46"/>
          <p:cNvSpPr/>
          <p:nvPr/>
        </p:nvSpPr>
        <p:spPr>
          <a:xfrm>
            <a:off x="676656" y="2130552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46"/>
          <p:cNvSpPr/>
          <p:nvPr/>
        </p:nvSpPr>
        <p:spPr>
          <a:xfrm>
            <a:off x="859536" y="2130552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46"/>
          <p:cNvSpPr/>
          <p:nvPr/>
        </p:nvSpPr>
        <p:spPr>
          <a:xfrm>
            <a:off x="1042416" y="2130552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46"/>
          <p:cNvSpPr/>
          <p:nvPr/>
        </p:nvSpPr>
        <p:spPr>
          <a:xfrm>
            <a:off x="1389888" y="2057400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7" name="Google Shape;2427;p46"/>
          <p:cNvSpPr/>
          <p:nvPr/>
        </p:nvSpPr>
        <p:spPr>
          <a:xfrm>
            <a:off x="768096" y="2569464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7 — Banco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"Uma tentativa de acesso à sua conta foi identificada. Para sua segurança, abra o aplicativo oficial do banco e consulte a seção de segurança. Nunca compartilhe sua senha ou código de verificação."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*Notificação visualizada dentro do aplicativo bancário oficial.*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28" name="Google Shape;2428;p46"/>
          <p:cNvSpPr/>
          <p:nvPr/>
        </p:nvSpPr>
        <p:spPr>
          <a:xfrm>
            <a:off x="502920" y="5623560"/>
            <a:ext cx="11155800" cy="621900"/>
          </a:xfrm>
          <a:prstGeom prst="roundRect">
            <a:avLst>
              <a:gd fmla="val 26471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46"/>
          <p:cNvSpPr/>
          <p:nvPr/>
        </p:nvSpPr>
        <p:spPr>
          <a:xfrm>
            <a:off x="676656" y="5788152"/>
            <a:ext cx="50400" cy="2925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46"/>
          <p:cNvSpPr/>
          <p:nvPr/>
        </p:nvSpPr>
        <p:spPr>
          <a:xfrm>
            <a:off x="868680" y="5797296"/>
            <a:ext cx="1053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79"/>
              <a:buFont typeface="Inter"/>
              <a:buNone/>
            </a:pPr>
            <a:r>
              <a:rPr b="1" lang="en-US" sz="1780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que nessa mensagem faria vocês desconfiarem?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1" name="Google Shape;2431;p46"/>
          <p:cNvSpPr/>
          <p:nvPr/>
        </p:nvSpPr>
        <p:spPr>
          <a:xfrm>
            <a:off x="6135570" y="1961404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46"/>
          <p:cNvSpPr/>
          <p:nvPr/>
        </p:nvSpPr>
        <p:spPr>
          <a:xfrm>
            <a:off x="6153858" y="1979692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46"/>
          <p:cNvSpPr/>
          <p:nvPr/>
        </p:nvSpPr>
        <p:spPr>
          <a:xfrm>
            <a:off x="6309306" y="2135140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46"/>
          <p:cNvSpPr/>
          <p:nvPr/>
        </p:nvSpPr>
        <p:spPr>
          <a:xfrm>
            <a:off x="6492186" y="2135140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46"/>
          <p:cNvSpPr/>
          <p:nvPr/>
        </p:nvSpPr>
        <p:spPr>
          <a:xfrm>
            <a:off x="6675066" y="2135140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46"/>
          <p:cNvSpPr/>
          <p:nvPr/>
        </p:nvSpPr>
        <p:spPr>
          <a:xfrm>
            <a:off x="7022538" y="2061988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7" name="Google Shape;2437;p46"/>
          <p:cNvSpPr/>
          <p:nvPr/>
        </p:nvSpPr>
        <p:spPr>
          <a:xfrm>
            <a:off x="6400746" y="2574052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8 — Bolsa de estudos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"Você foi selecionado para receber uma bolsa de estudos de R$ 1.200! Para confirmar sua vaga, envie uma foto do seu RG, CPF e comprovante de residência para este WhatsApp até as 18h."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47"/>
          <p:cNvSpPr/>
          <p:nvPr/>
        </p:nvSpPr>
        <p:spPr>
          <a:xfrm>
            <a:off x="9665208" y="45720"/>
            <a:ext cx="2441400" cy="2441400"/>
          </a:xfrm>
          <a:prstGeom prst="ellipse">
            <a:avLst/>
          </a:prstGeom>
          <a:solidFill>
            <a:srgbClr val="291840">
              <a:alpha val="25880"/>
            </a:srgbClr>
          </a:solidFill>
          <a:ln cap="flat" cmpd="sng" w="12700">
            <a:solidFill>
              <a:srgbClr val="F18DDD">
                <a:alpha val="141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47"/>
          <p:cNvSpPr/>
          <p:nvPr/>
        </p:nvSpPr>
        <p:spPr>
          <a:xfrm>
            <a:off x="9857232" y="210312"/>
            <a:ext cx="2030100" cy="2030100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47"/>
          <p:cNvSpPr/>
          <p:nvPr/>
        </p:nvSpPr>
        <p:spPr>
          <a:xfrm>
            <a:off x="45720" y="5413248"/>
            <a:ext cx="1316700" cy="1316700"/>
          </a:xfrm>
          <a:prstGeom prst="ellipse">
            <a:avLst/>
          </a:prstGeom>
          <a:solidFill>
            <a:srgbClr val="201333">
              <a:alpha val="16860"/>
            </a:srgbClr>
          </a:solidFill>
          <a:ln cap="flat" cmpd="sng" w="12700">
            <a:solidFill>
              <a:srgbClr val="F18DDD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47"/>
          <p:cNvSpPr/>
          <p:nvPr/>
        </p:nvSpPr>
        <p:spPr>
          <a:xfrm>
            <a:off x="1022299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7" name="Google Shape;2447;p47"/>
          <p:cNvSpPr/>
          <p:nvPr/>
        </p:nvSpPr>
        <p:spPr>
          <a:xfrm>
            <a:off x="1022299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p47"/>
          <p:cNvSpPr/>
          <p:nvPr/>
        </p:nvSpPr>
        <p:spPr>
          <a:xfrm>
            <a:off x="1022299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p47"/>
          <p:cNvSpPr/>
          <p:nvPr/>
        </p:nvSpPr>
        <p:spPr>
          <a:xfrm>
            <a:off x="1041044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p47"/>
          <p:cNvSpPr/>
          <p:nvPr/>
        </p:nvSpPr>
        <p:spPr>
          <a:xfrm>
            <a:off x="1041044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47"/>
          <p:cNvSpPr/>
          <p:nvPr/>
        </p:nvSpPr>
        <p:spPr>
          <a:xfrm>
            <a:off x="1041044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47"/>
          <p:cNvSpPr/>
          <p:nvPr/>
        </p:nvSpPr>
        <p:spPr>
          <a:xfrm>
            <a:off x="10597896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47"/>
          <p:cNvSpPr/>
          <p:nvPr/>
        </p:nvSpPr>
        <p:spPr>
          <a:xfrm>
            <a:off x="10597896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47"/>
          <p:cNvSpPr/>
          <p:nvPr/>
        </p:nvSpPr>
        <p:spPr>
          <a:xfrm>
            <a:off x="10597896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47"/>
          <p:cNvSpPr/>
          <p:nvPr/>
        </p:nvSpPr>
        <p:spPr>
          <a:xfrm>
            <a:off x="10785348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47"/>
          <p:cNvSpPr/>
          <p:nvPr/>
        </p:nvSpPr>
        <p:spPr>
          <a:xfrm>
            <a:off x="10785348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47"/>
          <p:cNvSpPr/>
          <p:nvPr/>
        </p:nvSpPr>
        <p:spPr>
          <a:xfrm>
            <a:off x="10785348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47"/>
          <p:cNvSpPr/>
          <p:nvPr/>
        </p:nvSpPr>
        <p:spPr>
          <a:xfrm>
            <a:off x="10972800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47"/>
          <p:cNvSpPr/>
          <p:nvPr/>
        </p:nvSpPr>
        <p:spPr>
          <a:xfrm>
            <a:off x="10972800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47"/>
          <p:cNvSpPr/>
          <p:nvPr/>
        </p:nvSpPr>
        <p:spPr>
          <a:xfrm>
            <a:off x="10972800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47"/>
          <p:cNvSpPr/>
          <p:nvPr/>
        </p:nvSpPr>
        <p:spPr>
          <a:xfrm>
            <a:off x="1116025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47"/>
          <p:cNvSpPr/>
          <p:nvPr/>
        </p:nvSpPr>
        <p:spPr>
          <a:xfrm>
            <a:off x="1116025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47"/>
          <p:cNvSpPr/>
          <p:nvPr/>
        </p:nvSpPr>
        <p:spPr>
          <a:xfrm>
            <a:off x="1116025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47"/>
          <p:cNvSpPr/>
          <p:nvPr/>
        </p:nvSpPr>
        <p:spPr>
          <a:xfrm>
            <a:off x="1134770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47"/>
          <p:cNvSpPr/>
          <p:nvPr/>
        </p:nvSpPr>
        <p:spPr>
          <a:xfrm>
            <a:off x="1134770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47"/>
          <p:cNvSpPr/>
          <p:nvPr/>
        </p:nvSpPr>
        <p:spPr>
          <a:xfrm>
            <a:off x="1134770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47"/>
          <p:cNvSpPr/>
          <p:nvPr/>
        </p:nvSpPr>
        <p:spPr>
          <a:xfrm>
            <a:off x="0" y="0"/>
            <a:ext cx="59400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47"/>
          <p:cNvSpPr/>
          <p:nvPr/>
        </p:nvSpPr>
        <p:spPr>
          <a:xfrm>
            <a:off x="493776" y="310896"/>
            <a:ext cx="2519100" cy="301800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47"/>
          <p:cNvSpPr/>
          <p:nvPr/>
        </p:nvSpPr>
        <p:spPr>
          <a:xfrm>
            <a:off x="603504" y="333756"/>
            <a:ext cx="231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0" name="Google Shape;2470;p47"/>
          <p:cNvSpPr/>
          <p:nvPr/>
        </p:nvSpPr>
        <p:spPr>
          <a:xfrm>
            <a:off x="502920" y="6519672"/>
            <a:ext cx="466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1" name="Google Shape;2471;p47"/>
          <p:cNvSpPr/>
          <p:nvPr/>
        </p:nvSpPr>
        <p:spPr>
          <a:xfrm>
            <a:off x="10789920" y="6519672"/>
            <a:ext cx="877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38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72" name="Google Shape;2472;p47"/>
          <p:cNvCxnSpPr/>
          <p:nvPr/>
        </p:nvCxnSpPr>
        <p:spPr>
          <a:xfrm>
            <a:off x="502920" y="6419088"/>
            <a:ext cx="11183100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3" name="Google Shape;2473;p47"/>
          <p:cNvSpPr/>
          <p:nvPr/>
        </p:nvSpPr>
        <p:spPr>
          <a:xfrm>
            <a:off x="502920" y="768096"/>
            <a:ext cx="11091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Phishing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4" name="Google Shape;2474;p47"/>
          <p:cNvSpPr/>
          <p:nvPr/>
        </p:nvSpPr>
        <p:spPr>
          <a:xfrm>
            <a:off x="521208" y="1316736"/>
            <a:ext cx="1092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Tentando enganar a vítima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75" name="Google Shape;2475;p47"/>
          <p:cNvCxnSpPr/>
          <p:nvPr/>
        </p:nvCxnSpPr>
        <p:spPr>
          <a:xfrm>
            <a:off x="512064" y="1792224"/>
            <a:ext cx="11146500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6" name="Google Shape;2476;p47"/>
          <p:cNvSpPr/>
          <p:nvPr/>
        </p:nvSpPr>
        <p:spPr>
          <a:xfrm>
            <a:off x="502920" y="1956816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47"/>
          <p:cNvSpPr/>
          <p:nvPr/>
        </p:nvSpPr>
        <p:spPr>
          <a:xfrm>
            <a:off x="521208" y="1975104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47"/>
          <p:cNvSpPr/>
          <p:nvPr/>
        </p:nvSpPr>
        <p:spPr>
          <a:xfrm>
            <a:off x="676656" y="2130552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47"/>
          <p:cNvSpPr/>
          <p:nvPr/>
        </p:nvSpPr>
        <p:spPr>
          <a:xfrm>
            <a:off x="859536" y="2130552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47"/>
          <p:cNvSpPr/>
          <p:nvPr/>
        </p:nvSpPr>
        <p:spPr>
          <a:xfrm>
            <a:off x="1042416" y="2130552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47"/>
          <p:cNvSpPr/>
          <p:nvPr/>
        </p:nvSpPr>
        <p:spPr>
          <a:xfrm>
            <a:off x="1389888" y="2057400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2" name="Google Shape;2482;p47"/>
          <p:cNvSpPr/>
          <p:nvPr/>
        </p:nvSpPr>
        <p:spPr>
          <a:xfrm>
            <a:off x="768096" y="2569464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9 — Loja online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"Seu pedido foi enviado! Você pode acompanhar a entrega diretamente na seção 'Meus Pedidos' do nosso aplicativo."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83" name="Google Shape;2483;p47"/>
          <p:cNvSpPr/>
          <p:nvPr/>
        </p:nvSpPr>
        <p:spPr>
          <a:xfrm>
            <a:off x="502920" y="5623560"/>
            <a:ext cx="11155800" cy="621900"/>
          </a:xfrm>
          <a:prstGeom prst="roundRect">
            <a:avLst>
              <a:gd fmla="val 26471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47"/>
          <p:cNvSpPr/>
          <p:nvPr/>
        </p:nvSpPr>
        <p:spPr>
          <a:xfrm>
            <a:off x="676656" y="5788152"/>
            <a:ext cx="50400" cy="2925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47"/>
          <p:cNvSpPr/>
          <p:nvPr/>
        </p:nvSpPr>
        <p:spPr>
          <a:xfrm>
            <a:off x="868680" y="5797296"/>
            <a:ext cx="1053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79"/>
              <a:buFont typeface="Inter"/>
              <a:buNone/>
            </a:pPr>
            <a:r>
              <a:rPr b="1" i="0" lang="en-US" sz="178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que nessa mensagem faria vocês desconfiarem?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6" name="Google Shape;2486;p47"/>
          <p:cNvSpPr/>
          <p:nvPr/>
        </p:nvSpPr>
        <p:spPr>
          <a:xfrm>
            <a:off x="6135570" y="1961404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47"/>
          <p:cNvSpPr/>
          <p:nvPr/>
        </p:nvSpPr>
        <p:spPr>
          <a:xfrm>
            <a:off x="6153858" y="1979692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47"/>
          <p:cNvSpPr/>
          <p:nvPr/>
        </p:nvSpPr>
        <p:spPr>
          <a:xfrm>
            <a:off x="6309306" y="2135140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47"/>
          <p:cNvSpPr/>
          <p:nvPr/>
        </p:nvSpPr>
        <p:spPr>
          <a:xfrm>
            <a:off x="6492186" y="2135140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47"/>
          <p:cNvSpPr/>
          <p:nvPr/>
        </p:nvSpPr>
        <p:spPr>
          <a:xfrm>
            <a:off x="6675066" y="2135140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47"/>
          <p:cNvSpPr/>
          <p:nvPr/>
        </p:nvSpPr>
        <p:spPr>
          <a:xfrm>
            <a:off x="7022538" y="2061988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2" name="Google Shape;2492;p47"/>
          <p:cNvSpPr/>
          <p:nvPr/>
        </p:nvSpPr>
        <p:spPr>
          <a:xfrm>
            <a:off x="6400746" y="2574052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10 — Suporte técnico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"Olá! Somos da equipe de segurança da sua conta. Detectamos uma tentativa de invasão. Enviaremos um código por SMS. Por favor, responda esta mensagem com o código para confirmarmos sua identidade."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48"/>
          <p:cNvSpPr/>
          <p:nvPr/>
        </p:nvSpPr>
        <p:spPr>
          <a:xfrm>
            <a:off x="9665208" y="45720"/>
            <a:ext cx="2441400" cy="2441400"/>
          </a:xfrm>
          <a:prstGeom prst="ellipse">
            <a:avLst/>
          </a:prstGeom>
          <a:solidFill>
            <a:srgbClr val="291840">
              <a:alpha val="25880"/>
            </a:srgbClr>
          </a:solidFill>
          <a:ln cap="flat" cmpd="sng" w="12700">
            <a:solidFill>
              <a:srgbClr val="F18DDD">
                <a:alpha val="141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48"/>
          <p:cNvSpPr/>
          <p:nvPr/>
        </p:nvSpPr>
        <p:spPr>
          <a:xfrm>
            <a:off x="9857232" y="210312"/>
            <a:ext cx="2030100" cy="2030100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48"/>
          <p:cNvSpPr/>
          <p:nvPr/>
        </p:nvSpPr>
        <p:spPr>
          <a:xfrm>
            <a:off x="45720" y="5413248"/>
            <a:ext cx="1316700" cy="1316700"/>
          </a:xfrm>
          <a:prstGeom prst="ellipse">
            <a:avLst/>
          </a:prstGeom>
          <a:solidFill>
            <a:srgbClr val="201333">
              <a:alpha val="16860"/>
            </a:srgbClr>
          </a:solidFill>
          <a:ln cap="flat" cmpd="sng" w="12700">
            <a:solidFill>
              <a:srgbClr val="F18DDD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48"/>
          <p:cNvSpPr/>
          <p:nvPr/>
        </p:nvSpPr>
        <p:spPr>
          <a:xfrm>
            <a:off x="1022299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48"/>
          <p:cNvSpPr/>
          <p:nvPr/>
        </p:nvSpPr>
        <p:spPr>
          <a:xfrm>
            <a:off x="1022299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48"/>
          <p:cNvSpPr/>
          <p:nvPr/>
        </p:nvSpPr>
        <p:spPr>
          <a:xfrm>
            <a:off x="1022299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48"/>
          <p:cNvSpPr/>
          <p:nvPr/>
        </p:nvSpPr>
        <p:spPr>
          <a:xfrm>
            <a:off x="1041044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48"/>
          <p:cNvSpPr/>
          <p:nvPr/>
        </p:nvSpPr>
        <p:spPr>
          <a:xfrm>
            <a:off x="1041044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48"/>
          <p:cNvSpPr/>
          <p:nvPr/>
        </p:nvSpPr>
        <p:spPr>
          <a:xfrm>
            <a:off x="1041044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48"/>
          <p:cNvSpPr/>
          <p:nvPr/>
        </p:nvSpPr>
        <p:spPr>
          <a:xfrm>
            <a:off x="10597896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48"/>
          <p:cNvSpPr/>
          <p:nvPr/>
        </p:nvSpPr>
        <p:spPr>
          <a:xfrm>
            <a:off x="10597896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48"/>
          <p:cNvSpPr/>
          <p:nvPr/>
        </p:nvSpPr>
        <p:spPr>
          <a:xfrm>
            <a:off x="10597896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48"/>
          <p:cNvSpPr/>
          <p:nvPr/>
        </p:nvSpPr>
        <p:spPr>
          <a:xfrm>
            <a:off x="10785348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48"/>
          <p:cNvSpPr/>
          <p:nvPr/>
        </p:nvSpPr>
        <p:spPr>
          <a:xfrm>
            <a:off x="10785348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48"/>
          <p:cNvSpPr/>
          <p:nvPr/>
        </p:nvSpPr>
        <p:spPr>
          <a:xfrm>
            <a:off x="10785348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48"/>
          <p:cNvSpPr/>
          <p:nvPr/>
        </p:nvSpPr>
        <p:spPr>
          <a:xfrm>
            <a:off x="10972800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48"/>
          <p:cNvSpPr/>
          <p:nvPr/>
        </p:nvSpPr>
        <p:spPr>
          <a:xfrm>
            <a:off x="10972800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48"/>
          <p:cNvSpPr/>
          <p:nvPr/>
        </p:nvSpPr>
        <p:spPr>
          <a:xfrm>
            <a:off x="10972800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48"/>
          <p:cNvSpPr/>
          <p:nvPr/>
        </p:nvSpPr>
        <p:spPr>
          <a:xfrm>
            <a:off x="1116025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48"/>
          <p:cNvSpPr/>
          <p:nvPr/>
        </p:nvSpPr>
        <p:spPr>
          <a:xfrm>
            <a:off x="1116025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48"/>
          <p:cNvSpPr/>
          <p:nvPr/>
        </p:nvSpPr>
        <p:spPr>
          <a:xfrm>
            <a:off x="1116025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48"/>
          <p:cNvSpPr/>
          <p:nvPr/>
        </p:nvSpPr>
        <p:spPr>
          <a:xfrm>
            <a:off x="1134770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48"/>
          <p:cNvSpPr/>
          <p:nvPr/>
        </p:nvSpPr>
        <p:spPr>
          <a:xfrm>
            <a:off x="1134770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48"/>
          <p:cNvSpPr/>
          <p:nvPr/>
        </p:nvSpPr>
        <p:spPr>
          <a:xfrm>
            <a:off x="1134770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48"/>
          <p:cNvSpPr/>
          <p:nvPr/>
        </p:nvSpPr>
        <p:spPr>
          <a:xfrm>
            <a:off x="0" y="0"/>
            <a:ext cx="59400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48"/>
          <p:cNvSpPr/>
          <p:nvPr/>
        </p:nvSpPr>
        <p:spPr>
          <a:xfrm>
            <a:off x="493776" y="310896"/>
            <a:ext cx="2519100" cy="301800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48"/>
          <p:cNvSpPr/>
          <p:nvPr/>
        </p:nvSpPr>
        <p:spPr>
          <a:xfrm>
            <a:off x="603504" y="333756"/>
            <a:ext cx="231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5" name="Google Shape;2525;p48"/>
          <p:cNvSpPr/>
          <p:nvPr/>
        </p:nvSpPr>
        <p:spPr>
          <a:xfrm>
            <a:off x="502920" y="6519672"/>
            <a:ext cx="466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6" name="Google Shape;2526;p48"/>
          <p:cNvSpPr/>
          <p:nvPr/>
        </p:nvSpPr>
        <p:spPr>
          <a:xfrm>
            <a:off x="10789920" y="6519672"/>
            <a:ext cx="877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38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27" name="Google Shape;2527;p48"/>
          <p:cNvCxnSpPr/>
          <p:nvPr/>
        </p:nvCxnSpPr>
        <p:spPr>
          <a:xfrm>
            <a:off x="502920" y="6419088"/>
            <a:ext cx="11183100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8" name="Google Shape;2528;p48"/>
          <p:cNvSpPr/>
          <p:nvPr/>
        </p:nvSpPr>
        <p:spPr>
          <a:xfrm>
            <a:off x="502920" y="768096"/>
            <a:ext cx="11091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Phishing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9" name="Google Shape;2529;p48"/>
          <p:cNvSpPr/>
          <p:nvPr/>
        </p:nvSpPr>
        <p:spPr>
          <a:xfrm>
            <a:off x="521208" y="1316736"/>
            <a:ext cx="1092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Tentando enganar a vítima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30" name="Google Shape;2530;p48"/>
          <p:cNvCxnSpPr/>
          <p:nvPr/>
        </p:nvCxnSpPr>
        <p:spPr>
          <a:xfrm>
            <a:off x="512064" y="1792224"/>
            <a:ext cx="11146500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1" name="Google Shape;2531;p48"/>
          <p:cNvSpPr/>
          <p:nvPr/>
        </p:nvSpPr>
        <p:spPr>
          <a:xfrm>
            <a:off x="502920" y="1956816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2" name="Google Shape;2532;p48"/>
          <p:cNvSpPr/>
          <p:nvPr/>
        </p:nvSpPr>
        <p:spPr>
          <a:xfrm>
            <a:off x="521208" y="1975104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48"/>
          <p:cNvSpPr/>
          <p:nvPr/>
        </p:nvSpPr>
        <p:spPr>
          <a:xfrm>
            <a:off x="676656" y="2130552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48"/>
          <p:cNvSpPr/>
          <p:nvPr/>
        </p:nvSpPr>
        <p:spPr>
          <a:xfrm>
            <a:off x="859536" y="2130552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48"/>
          <p:cNvSpPr/>
          <p:nvPr/>
        </p:nvSpPr>
        <p:spPr>
          <a:xfrm>
            <a:off x="1042416" y="2130552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p48"/>
          <p:cNvSpPr/>
          <p:nvPr/>
        </p:nvSpPr>
        <p:spPr>
          <a:xfrm>
            <a:off x="1389888" y="2057400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7" name="Google Shape;2537;p48"/>
          <p:cNvSpPr/>
          <p:nvPr/>
        </p:nvSpPr>
        <p:spPr>
          <a:xfrm>
            <a:off x="768096" y="2569464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11 — Autenticação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"Seu código de verificação é 482913. Não compartilhe este código com ninguém. Se você não solicitou, ignore esta mensagem."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38" name="Google Shape;2538;p48"/>
          <p:cNvSpPr/>
          <p:nvPr/>
        </p:nvSpPr>
        <p:spPr>
          <a:xfrm>
            <a:off x="502920" y="5623560"/>
            <a:ext cx="11155800" cy="621900"/>
          </a:xfrm>
          <a:prstGeom prst="roundRect">
            <a:avLst>
              <a:gd fmla="val 26471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9" name="Google Shape;2539;p48"/>
          <p:cNvSpPr/>
          <p:nvPr/>
        </p:nvSpPr>
        <p:spPr>
          <a:xfrm>
            <a:off x="676656" y="5788152"/>
            <a:ext cx="50400" cy="2925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0" name="Google Shape;2540;p48"/>
          <p:cNvSpPr/>
          <p:nvPr/>
        </p:nvSpPr>
        <p:spPr>
          <a:xfrm>
            <a:off x="868680" y="5797296"/>
            <a:ext cx="1053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1779"/>
              <a:buFont typeface="Inter"/>
              <a:buNone/>
            </a:pPr>
            <a:r>
              <a:rPr b="1" i="0" lang="en-US" sz="178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O que nessa mensagem faria vocês desconfiarem?</a:t>
            </a:r>
            <a:endParaRPr b="0" i="0" sz="178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1" name="Google Shape;2541;p48"/>
          <p:cNvSpPr/>
          <p:nvPr/>
        </p:nvSpPr>
        <p:spPr>
          <a:xfrm>
            <a:off x="6135570" y="1961404"/>
            <a:ext cx="5523000" cy="3566100"/>
          </a:xfrm>
          <a:prstGeom prst="roundRect">
            <a:avLst>
              <a:gd fmla="val 4615" name="adj"/>
            </a:avLst>
          </a:prstGeom>
          <a:solidFill>
            <a:srgbClr val="110D21"/>
          </a:solidFill>
          <a:ln cap="flat" cmpd="sng" w="11425">
            <a:solidFill>
              <a:srgbClr val="584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2" name="Google Shape;2542;p48"/>
          <p:cNvSpPr/>
          <p:nvPr/>
        </p:nvSpPr>
        <p:spPr>
          <a:xfrm>
            <a:off x="6153858" y="1979692"/>
            <a:ext cx="5486400" cy="438900"/>
          </a:xfrm>
          <a:prstGeom prst="roundRect">
            <a:avLst>
              <a:gd fmla="val 37500" name="adj"/>
            </a:avLst>
          </a:prstGeom>
          <a:solidFill>
            <a:srgbClr val="291840"/>
          </a:solidFill>
          <a:ln cap="flat" cmpd="sng" w="12700">
            <a:solidFill>
              <a:srgbClr val="29184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48"/>
          <p:cNvSpPr/>
          <p:nvPr/>
        </p:nvSpPr>
        <p:spPr>
          <a:xfrm>
            <a:off x="6309306" y="2135140"/>
            <a:ext cx="91500" cy="91500"/>
          </a:xfrm>
          <a:prstGeom prst="ellipse">
            <a:avLst/>
          </a:prstGeom>
          <a:solidFill>
            <a:srgbClr val="FF8AA7"/>
          </a:solidFill>
          <a:ln cap="flat" cmpd="sng" w="12700">
            <a:solidFill>
              <a:srgbClr val="FF8AA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4" name="Google Shape;2544;p48"/>
          <p:cNvSpPr/>
          <p:nvPr/>
        </p:nvSpPr>
        <p:spPr>
          <a:xfrm>
            <a:off x="6492186" y="2135140"/>
            <a:ext cx="91500" cy="91500"/>
          </a:xfrm>
          <a:prstGeom prst="ellipse">
            <a:avLst/>
          </a:prstGeom>
          <a:solidFill>
            <a:srgbClr val="F7D18B"/>
          </a:solidFill>
          <a:ln cap="flat" cmpd="sng" w="12700">
            <a:solidFill>
              <a:srgbClr val="F7D1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48"/>
          <p:cNvSpPr/>
          <p:nvPr/>
        </p:nvSpPr>
        <p:spPr>
          <a:xfrm>
            <a:off x="6675066" y="2135140"/>
            <a:ext cx="91500" cy="91500"/>
          </a:xfrm>
          <a:prstGeom prst="ellipse">
            <a:avLst/>
          </a:prstGeom>
          <a:solidFill>
            <a:srgbClr val="64E5DD"/>
          </a:solidFill>
          <a:ln cap="flat" cmpd="sng" w="12700">
            <a:solidFill>
              <a:srgbClr val="64E5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6" name="Google Shape;2546;p48"/>
          <p:cNvSpPr/>
          <p:nvPr/>
        </p:nvSpPr>
        <p:spPr>
          <a:xfrm>
            <a:off x="7022538" y="2061988"/>
            <a:ext cx="441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A8D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B6A8D3"/>
                </a:solidFill>
                <a:latin typeface="Inter"/>
                <a:ea typeface="Inter"/>
                <a:cs typeface="Inter"/>
                <a:sym typeface="Inter"/>
              </a:rPr>
              <a:t>Exemplo de mensagem: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7" name="Google Shape;2547;p48"/>
          <p:cNvSpPr/>
          <p:nvPr/>
        </p:nvSpPr>
        <p:spPr>
          <a:xfrm>
            <a:off x="6386946" y="2589977"/>
            <a:ext cx="50202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Mensagem 12 — Material de aula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t/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AA7"/>
              </a:buClr>
              <a:buSzPts val="1640"/>
              <a:buFont typeface="Verdana"/>
              <a:buNone/>
            </a:pPr>
            <a:r>
              <a:rPr lang="en-US" sz="1640">
                <a:solidFill>
                  <a:srgbClr val="FF8AA7"/>
                </a:solidFill>
                <a:latin typeface="Verdana"/>
                <a:ea typeface="Verdana"/>
                <a:cs typeface="Verdana"/>
                <a:sym typeface="Verdana"/>
              </a:rPr>
              <a:t>"Boa tarde, turma! O material de revisão para a prova já está disponível na pasta 'Materiais' da plataforma oficial da escola. Bons estudos!"</a:t>
            </a:r>
            <a:endParaRPr sz="1640">
              <a:solidFill>
                <a:srgbClr val="FF8A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71B"/>
        </a:solidFill>
      </p:bgPr>
    </p:bg>
    <p:spTree>
      <p:nvGrpSpPr>
        <p:cNvPr id="2552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553;p49"/>
          <p:cNvSpPr/>
          <p:nvPr/>
        </p:nvSpPr>
        <p:spPr>
          <a:xfrm>
            <a:off x="9665208" y="45720"/>
            <a:ext cx="2441400" cy="2441400"/>
          </a:xfrm>
          <a:prstGeom prst="ellipse">
            <a:avLst/>
          </a:prstGeom>
          <a:solidFill>
            <a:srgbClr val="291840">
              <a:alpha val="25880"/>
            </a:srgbClr>
          </a:solidFill>
          <a:ln cap="flat" cmpd="sng" w="12700">
            <a:solidFill>
              <a:srgbClr val="F18DDD">
                <a:alpha val="141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4" name="Google Shape;2554;p49"/>
          <p:cNvSpPr/>
          <p:nvPr/>
        </p:nvSpPr>
        <p:spPr>
          <a:xfrm>
            <a:off x="9857232" y="210312"/>
            <a:ext cx="2030100" cy="2030100"/>
          </a:xfrm>
          <a:prstGeom prst="ellipse">
            <a:avLst/>
          </a:prstGeom>
          <a:solidFill>
            <a:srgbClr val="291840">
              <a:alpha val="0"/>
            </a:srgbClr>
          </a:solidFill>
          <a:ln cap="flat" cmpd="sng" w="12700">
            <a:solidFill>
              <a:srgbClr val="F18DDD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49"/>
          <p:cNvSpPr/>
          <p:nvPr/>
        </p:nvSpPr>
        <p:spPr>
          <a:xfrm>
            <a:off x="45720" y="5413248"/>
            <a:ext cx="1316700" cy="1316700"/>
          </a:xfrm>
          <a:prstGeom prst="ellipse">
            <a:avLst/>
          </a:prstGeom>
          <a:solidFill>
            <a:srgbClr val="201333">
              <a:alpha val="16860"/>
            </a:srgbClr>
          </a:solidFill>
          <a:ln cap="flat" cmpd="sng" w="12700">
            <a:solidFill>
              <a:srgbClr val="F18DDD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49"/>
          <p:cNvSpPr/>
          <p:nvPr/>
        </p:nvSpPr>
        <p:spPr>
          <a:xfrm>
            <a:off x="1022299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7" name="Google Shape;2557;p49"/>
          <p:cNvSpPr/>
          <p:nvPr/>
        </p:nvSpPr>
        <p:spPr>
          <a:xfrm>
            <a:off x="1022299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p49"/>
          <p:cNvSpPr/>
          <p:nvPr/>
        </p:nvSpPr>
        <p:spPr>
          <a:xfrm>
            <a:off x="1022299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49"/>
          <p:cNvSpPr/>
          <p:nvPr/>
        </p:nvSpPr>
        <p:spPr>
          <a:xfrm>
            <a:off x="1041044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49"/>
          <p:cNvSpPr/>
          <p:nvPr/>
        </p:nvSpPr>
        <p:spPr>
          <a:xfrm>
            <a:off x="1041044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49"/>
          <p:cNvSpPr/>
          <p:nvPr/>
        </p:nvSpPr>
        <p:spPr>
          <a:xfrm>
            <a:off x="1041044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49"/>
          <p:cNvSpPr/>
          <p:nvPr/>
        </p:nvSpPr>
        <p:spPr>
          <a:xfrm>
            <a:off x="10597896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49"/>
          <p:cNvSpPr/>
          <p:nvPr/>
        </p:nvSpPr>
        <p:spPr>
          <a:xfrm>
            <a:off x="10597896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49"/>
          <p:cNvSpPr/>
          <p:nvPr/>
        </p:nvSpPr>
        <p:spPr>
          <a:xfrm>
            <a:off x="10597896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49"/>
          <p:cNvSpPr/>
          <p:nvPr/>
        </p:nvSpPr>
        <p:spPr>
          <a:xfrm>
            <a:off x="10785348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49"/>
          <p:cNvSpPr/>
          <p:nvPr/>
        </p:nvSpPr>
        <p:spPr>
          <a:xfrm>
            <a:off x="10785348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49"/>
          <p:cNvSpPr/>
          <p:nvPr/>
        </p:nvSpPr>
        <p:spPr>
          <a:xfrm>
            <a:off x="10785348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49"/>
          <p:cNvSpPr/>
          <p:nvPr/>
        </p:nvSpPr>
        <p:spPr>
          <a:xfrm>
            <a:off x="10972800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49"/>
          <p:cNvSpPr/>
          <p:nvPr/>
        </p:nvSpPr>
        <p:spPr>
          <a:xfrm>
            <a:off x="10972800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49"/>
          <p:cNvSpPr/>
          <p:nvPr/>
        </p:nvSpPr>
        <p:spPr>
          <a:xfrm>
            <a:off x="10972800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49"/>
          <p:cNvSpPr/>
          <p:nvPr/>
        </p:nvSpPr>
        <p:spPr>
          <a:xfrm>
            <a:off x="11160252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49"/>
          <p:cNvSpPr/>
          <p:nvPr/>
        </p:nvSpPr>
        <p:spPr>
          <a:xfrm>
            <a:off x="11160252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49"/>
          <p:cNvSpPr/>
          <p:nvPr/>
        </p:nvSpPr>
        <p:spPr>
          <a:xfrm>
            <a:off x="11160252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49"/>
          <p:cNvSpPr/>
          <p:nvPr/>
        </p:nvSpPr>
        <p:spPr>
          <a:xfrm>
            <a:off x="11347704" y="5321808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49"/>
          <p:cNvSpPr/>
          <p:nvPr/>
        </p:nvSpPr>
        <p:spPr>
          <a:xfrm>
            <a:off x="11347704" y="5509260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49"/>
          <p:cNvSpPr/>
          <p:nvPr/>
        </p:nvSpPr>
        <p:spPr>
          <a:xfrm>
            <a:off x="11347704" y="5696712"/>
            <a:ext cx="21900" cy="21900"/>
          </a:xfrm>
          <a:prstGeom prst="ellipse">
            <a:avLst/>
          </a:prstGeom>
          <a:solidFill>
            <a:srgbClr val="F18DDD">
              <a:alpha val="45100"/>
            </a:srgbClr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49"/>
          <p:cNvSpPr/>
          <p:nvPr/>
        </p:nvSpPr>
        <p:spPr>
          <a:xfrm>
            <a:off x="0" y="0"/>
            <a:ext cx="59400" cy="6858000"/>
          </a:xfrm>
          <a:prstGeom prst="rect">
            <a:avLst/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49"/>
          <p:cNvSpPr/>
          <p:nvPr/>
        </p:nvSpPr>
        <p:spPr>
          <a:xfrm>
            <a:off x="493776" y="310896"/>
            <a:ext cx="2519100" cy="301800"/>
          </a:xfrm>
          <a:prstGeom prst="roundRect">
            <a:avLst>
              <a:gd fmla="val 54545" name="adj"/>
            </a:avLst>
          </a:prstGeom>
          <a:solidFill>
            <a:srgbClr val="291840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49"/>
          <p:cNvSpPr/>
          <p:nvPr/>
        </p:nvSpPr>
        <p:spPr>
          <a:xfrm>
            <a:off x="603504" y="333756"/>
            <a:ext cx="231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ENGENHARIA SOCIAL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0" name="Google Shape;2580;p49"/>
          <p:cNvSpPr/>
          <p:nvPr/>
        </p:nvSpPr>
        <p:spPr>
          <a:xfrm>
            <a:off x="502920" y="6519672"/>
            <a:ext cx="4663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970"/>
              <a:buFont typeface="Inter"/>
              <a:buNone/>
            </a:pPr>
            <a:r>
              <a:rPr b="1" i="0" lang="en-US" sz="97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INFOESTE  /  CIBERSEGURANÇA</a:t>
            </a:r>
            <a:endParaRPr b="0" i="0" sz="9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1" name="Google Shape;2581;p49"/>
          <p:cNvSpPr/>
          <p:nvPr/>
        </p:nvSpPr>
        <p:spPr>
          <a:xfrm>
            <a:off x="10789920" y="6519672"/>
            <a:ext cx="877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7BAE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C7BAE"/>
                </a:solidFill>
                <a:latin typeface="Inter"/>
                <a:ea typeface="Inter"/>
                <a:cs typeface="Inter"/>
                <a:sym typeface="Inter"/>
              </a:rPr>
              <a:t>39 / 40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82" name="Google Shape;2582;p49"/>
          <p:cNvCxnSpPr/>
          <p:nvPr/>
        </p:nvCxnSpPr>
        <p:spPr>
          <a:xfrm>
            <a:off x="502920" y="6419088"/>
            <a:ext cx="11183100" cy="0"/>
          </a:xfrm>
          <a:prstGeom prst="straightConnector1">
            <a:avLst/>
          </a:prstGeom>
          <a:noFill/>
          <a:ln cap="flat" cmpd="sng" w="9525">
            <a:solidFill>
              <a:srgbClr val="4A3568">
                <a:alpha val="721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3" name="Google Shape;2583;p49"/>
          <p:cNvSpPr/>
          <p:nvPr/>
        </p:nvSpPr>
        <p:spPr>
          <a:xfrm>
            <a:off x="502920" y="768096"/>
            <a:ext cx="11091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5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8F5FF"/>
                </a:solidFill>
                <a:latin typeface="Inter"/>
                <a:ea typeface="Inter"/>
                <a:cs typeface="Inter"/>
                <a:sym typeface="Inter"/>
              </a:rPr>
              <a:t>Phishing ou Confiável?</a:t>
            </a:r>
            <a:endParaRPr b="0" i="0" sz="3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4" name="Google Shape;2584;p49"/>
          <p:cNvSpPr/>
          <p:nvPr/>
        </p:nvSpPr>
        <p:spPr>
          <a:xfrm>
            <a:off x="521208" y="1316736"/>
            <a:ext cx="1092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670"/>
              <a:buFont typeface="Inter"/>
              <a:buNone/>
            </a:pPr>
            <a:r>
              <a:rPr b="0" i="0" lang="en-US" sz="1670" u="none" cap="none" strike="noStrike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Analise antes de clicar</a:t>
            </a:r>
            <a:endParaRPr b="0" i="0" sz="167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85" name="Google Shape;2585;p49"/>
          <p:cNvCxnSpPr/>
          <p:nvPr/>
        </p:nvCxnSpPr>
        <p:spPr>
          <a:xfrm>
            <a:off x="512064" y="1792224"/>
            <a:ext cx="11146500" cy="0"/>
          </a:xfrm>
          <a:prstGeom prst="straightConnector1">
            <a:avLst/>
          </a:prstGeom>
          <a:noFill/>
          <a:ln cap="flat" cmpd="sng" w="11425">
            <a:solidFill>
              <a:srgbClr val="4A3568">
                <a:alpha val="6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6" name="Google Shape;2586;p49"/>
          <p:cNvSpPr/>
          <p:nvPr/>
        </p:nvSpPr>
        <p:spPr>
          <a:xfrm>
            <a:off x="502925" y="1975101"/>
            <a:ext cx="5532000" cy="3849600"/>
          </a:xfrm>
          <a:prstGeom prst="roundRect">
            <a:avLst>
              <a:gd fmla="val 11465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49"/>
          <p:cNvSpPr/>
          <p:nvPr/>
        </p:nvSpPr>
        <p:spPr>
          <a:xfrm>
            <a:off x="731525" y="2862550"/>
            <a:ext cx="5010900" cy="24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1"/>
              <a:buFont typeface="Inter"/>
              <a:buNone/>
            </a:pPr>
            <a:r>
              <a:rPr lang="en-US" sz="22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1. Instagram	       Suspeita	</a:t>
            </a:r>
            <a:endParaRPr sz="220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1"/>
              <a:buFont typeface="Inter"/>
              <a:buNone/>
            </a:pPr>
            <a:r>
              <a:rPr lang="en-US" sz="22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2. Escola	            Parece confiável</a:t>
            </a:r>
            <a:endParaRPr sz="220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1"/>
              <a:buFont typeface="Inter"/>
              <a:buNone/>
            </a:pPr>
            <a:r>
              <a:rPr lang="en-US" sz="22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3. WhatsApp	 Suspeita	</a:t>
            </a:r>
            <a:endParaRPr sz="220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1"/>
              <a:buFont typeface="Inter"/>
              <a:buNone/>
            </a:pPr>
            <a:r>
              <a:rPr lang="en-US" sz="22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4. Jogo	            Suspeita	</a:t>
            </a:r>
            <a:endParaRPr sz="220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1"/>
              <a:buFont typeface="Inter"/>
              <a:buNone/>
            </a:pPr>
            <a:r>
              <a:rPr lang="en-US" sz="22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5. Professor	       Parece confiável</a:t>
            </a:r>
            <a:endParaRPr sz="220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641"/>
              <a:buFont typeface="Inter"/>
              <a:buNone/>
            </a:pPr>
            <a:r>
              <a:rPr lang="en-US" sz="2200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6. Entrega	       Suspeita	</a:t>
            </a:r>
            <a:endParaRPr sz="2200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8" name="Google Shape;2588;p49"/>
          <p:cNvSpPr/>
          <p:nvPr/>
        </p:nvSpPr>
        <p:spPr>
          <a:xfrm>
            <a:off x="6199650" y="1974985"/>
            <a:ext cx="5468100" cy="3849600"/>
          </a:xfrm>
          <a:prstGeom prst="roundRect">
            <a:avLst>
              <a:gd fmla="val 10112" name="adj"/>
            </a:avLst>
          </a:prstGeom>
          <a:solidFill>
            <a:srgbClr val="201333"/>
          </a:solidFill>
          <a:ln cap="flat" cmpd="sng" w="11425">
            <a:solidFill>
              <a:srgbClr val="4A35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49"/>
          <p:cNvSpPr/>
          <p:nvPr/>
        </p:nvSpPr>
        <p:spPr>
          <a:xfrm>
            <a:off x="6201885" y="2505676"/>
            <a:ext cx="59400" cy="2788200"/>
          </a:xfrm>
          <a:prstGeom prst="roundRect">
            <a:avLst>
              <a:gd fmla="val 50000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49"/>
          <p:cNvSpPr/>
          <p:nvPr/>
        </p:nvSpPr>
        <p:spPr>
          <a:xfrm>
            <a:off x="6428245" y="2240403"/>
            <a:ext cx="5010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29"/>
              <a:buFont typeface="Inter"/>
              <a:buNone/>
            </a:pPr>
            <a:r>
              <a:rPr b="1" lang="en-US" sz="2530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Gabarito</a:t>
            </a:r>
            <a:endParaRPr b="0" i="0" sz="25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1" name="Google Shape;2591;p49"/>
          <p:cNvSpPr/>
          <p:nvPr/>
        </p:nvSpPr>
        <p:spPr>
          <a:xfrm>
            <a:off x="6428225" y="2862550"/>
            <a:ext cx="4919400" cy="27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14"/>
              <a:buFont typeface="Inter"/>
              <a:buNone/>
            </a:pPr>
            <a:r>
              <a:rPr lang="en-US" sz="2214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7. Banco	           Parece confiável</a:t>
            </a:r>
            <a:endParaRPr sz="2214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14"/>
              <a:buFont typeface="Inter"/>
              <a:buNone/>
            </a:pPr>
            <a:r>
              <a:rPr lang="en-US" sz="2214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8. Bolsa	           Suspeita	</a:t>
            </a:r>
            <a:endParaRPr sz="2214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14"/>
              <a:buFont typeface="Inter"/>
              <a:buNone/>
            </a:pPr>
            <a:r>
              <a:rPr lang="en-US" sz="2214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9. Loja	                 Parece confiável</a:t>
            </a:r>
            <a:endParaRPr sz="2214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14"/>
              <a:buFont typeface="Inter"/>
              <a:buNone/>
            </a:pPr>
            <a:r>
              <a:rPr lang="en-US" sz="2214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10. Suporte	      Suspeita	</a:t>
            </a:r>
            <a:endParaRPr sz="2214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14"/>
              <a:buFont typeface="Inter"/>
              <a:buNone/>
            </a:pPr>
            <a:r>
              <a:rPr lang="en-US" sz="2214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11. Autenticação	Parece confiável</a:t>
            </a:r>
            <a:endParaRPr sz="2214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5EE"/>
              </a:buClr>
              <a:buSzPts val="1714"/>
              <a:buFont typeface="Inter"/>
              <a:buNone/>
            </a:pPr>
            <a:r>
              <a:rPr lang="en-US" sz="2214">
                <a:solidFill>
                  <a:srgbClr val="DCD5EE"/>
                </a:solidFill>
                <a:latin typeface="Inter"/>
                <a:ea typeface="Inter"/>
                <a:cs typeface="Inter"/>
                <a:sym typeface="Inter"/>
              </a:rPr>
              <a:t>12. Material	      Parece confiável</a:t>
            </a:r>
            <a:endParaRPr sz="2214">
              <a:solidFill>
                <a:srgbClr val="DCD5E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2" name="Google Shape;2592;p49"/>
          <p:cNvSpPr/>
          <p:nvPr/>
        </p:nvSpPr>
        <p:spPr>
          <a:xfrm>
            <a:off x="493785" y="2505801"/>
            <a:ext cx="59400" cy="2788200"/>
          </a:xfrm>
          <a:prstGeom prst="roundRect">
            <a:avLst>
              <a:gd fmla="val 50000" name="adj"/>
            </a:avLst>
          </a:prstGeom>
          <a:solidFill>
            <a:srgbClr val="F18DDD"/>
          </a:solidFill>
          <a:ln cap="flat" cmpd="sng" w="12700">
            <a:solidFill>
              <a:srgbClr val="F18DD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49"/>
          <p:cNvSpPr/>
          <p:nvPr/>
        </p:nvSpPr>
        <p:spPr>
          <a:xfrm>
            <a:off x="738370" y="2240403"/>
            <a:ext cx="5010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DDD"/>
              </a:buClr>
              <a:buSzPts val="1729"/>
              <a:buFont typeface="Inter"/>
              <a:buNone/>
            </a:pPr>
            <a:r>
              <a:rPr b="1" lang="en-US" sz="2530">
                <a:solidFill>
                  <a:srgbClr val="F18DDD"/>
                </a:solidFill>
                <a:latin typeface="Inter"/>
                <a:ea typeface="Inter"/>
                <a:cs typeface="Inter"/>
                <a:sym typeface="Inter"/>
              </a:rPr>
              <a:t>Gabarito</a:t>
            </a:r>
            <a:endParaRPr b="0" i="0" sz="253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